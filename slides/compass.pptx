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SLIDE (say these):</a:t>
            </a:r>
          </a:p>
          <a:p/>
          <a:p>
            <a:r>
              <a:t>Two GB300 compute trays (4 GPUs + 4 network rails each) and a small control-plane node, leased from a shared Slurm pool and turned into a Kubernetes (k3s) cluster</a:t>
            </a:r>
          </a:p>
          <a:p/>
          <a:p>
            <a:r>
              <a:t>Three ways for the trays to talk: NVLink between trays (the fast path), the RDMA rails (RoCE v2), and plain TCP over the pod network — the benchmark runs the same collective over each</a:t>
            </a:r>
          </a:p>
          <a:p/>
          <a:p>
            <a:r>
              <a:t>Each experiment is one Kubernetes Job with one pod per tray; every pod claims its GPUs and its rails through the same allocation mechanism (DRA); the pods never run with host networking</a:t>
            </a:r>
          </a:p>
          <a:p/>
          <a:p>
            <a:r>
              <a:t>Every run writes a machine-checked result file plus per-rank timings; a small watcher pod on each tray records the NIC, NVLink and GPU counters once a second; the same counters go to a Grafana dashboard</a:t>
            </a:r>
          </a:p>
          <a:p/>
          <a:p/>
          <a:p/>
          <a:p>
            <a:r>
              <a:t>What the audience needs to know: a GB300 tray is one node with four GPUs joined by NVLink, four RDMA-capable NICs (one per GPU, called rails), and two Grace CPUs. Two such trays sit in the same NVLink domain, so their GPUs can talk directly over NVLink (multi-node NVLink, MNNVL) as well as over the rails.</a:t>
            </a:r>
          </a:p>
          <a:p/>
          <a:p>
            <a:r>
              <a:t>Why Kubernetes here: the exercise wants a reproducible environment, not a particular scheduler. Kubernetes gives declarative manifests (committed to the repo), a scheduler that allocates GPUs and NICs as first-class devices, and one image that CI builds and publishes. The trays are borrowed, so the bootstrap snapshots every node and proves it goes back unchanged.</a:t>
            </a:r>
          </a:p>
          <a:p/>
          <a:p>
            <a:r>
              <a:t>Why three networks: the exercise asks us to separate evidence from diagnosis about networking. Running the identical collective over NVLink, over the rails, and over TCP shows what each path can do before we speculate about bottlenecks.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version: with the device plugin you order 'four GPUs' and get four unnamed GPUs; there is no way to also order the network card that sits next to each GPU. With DRA the cluster lists every device with its properties and the pod asks for a set of them; because dranet publishes the NICs through the same interface, the GPU claim and the NIC claim live side by side in one pod spec.</a:t>
            </a:r>
          </a:p>
          <a:p/>
          <a:p>
            <a:r>
              <a:t>This is what made the rail-count experiment (1 vs 2 vs 4 rails) possible with a one-line change per experiment, and what let us keep the pods unprivileged and off the host network.</a:t>
            </a:r>
          </a:p>
          <a:p/>
          <a:p>
            <a:r>
              <a:t>The shared RDMA namespace mode is a Linux kernel setting. It can only be changed when no container network namespace exists, which is why the bootstrap sets it on the freshly leased node before installing k3s, and restores the original at teardown.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 bandwidth is the standard way collective benchmarks report speed: bytes moved per second, adjusted so different numbers of GPUs are comparable. Higher is better.</a:t>
            </a:r>
          </a:p>
          <a:p/>
          <a:p>
            <a:r>
              <a:t>The shape of the curve: for a 1 MiB message the operation takes about 80 microseconds on either NVLink or RDMA — that time is handshakes and kernel launches, not data. As the message grows, the fixed cost is amortised and the curve flattens at the speed of the wire.</a:t>
            </a:r>
          </a:p>
          <a:p/>
          <a:p>
            <a:r>
              <a:t>The two TCP lines show why the CNI overlay must never carry training traffic, and what a plain Ethernet path costs compared with RDMA on the very same cable (118 vs 425 GB/s).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make the diagnosis honest: below a few MiB the network bandwidth is irrelevant; what matters is how many operations you issue. It sets up the bucket-size finding.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efficiency drops on one tray from 2 to 4 GPUs: no NIC is involved, so it is not the network — the model is small (a 21 ms step), so launch overhead and the intra-tray all-reduce are a bigger fraction. Saying this out loud is the exercise's 'do not assume networking is the problem'.</a:t>
            </a:r>
          </a:p>
          <a:p/>
          <a:p>
            <a:r>
              <a:t>Why 8 GPUs over NVLink beats 4 on one tray: NCCL uses the NVSwitch-based reduction (NVLS) across both trays; the exchange gets faster per byte at 8 ranks than the 4-rank pattern.</a:t>
            </a:r>
          </a:p>
          <a:p/>
          <a:p>
            <a:r>
              <a:t>Why 8 GPUs over the rails is 69 %: the same exchange now runs at 425 instead of 835 GB/s and the communication share rises to 91 % of the step. This is the case the optimization slides attack from two directions.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know the rails are 800 Gb/s: we watched the NIC's transmitted-bytes counter during a sustained all-reduce and cross-checked it against ethtool's byte counter (they agree to the byte). One rail moved 411 Gb/s. The physical NIC exposes four 200 Gb/s ports per rail, and the virtual function aggregates them.</a:t>
            </a:r>
          </a:p>
          <a:p/>
          <a:p>
            <a:r>
              <a:t>How we know it is not congestion: the same watcher reads the RoCE congestion-control counters (CNPs sent and handled, ECN-marked packets) and the reliability counters (out-of-sequence, sequence errors, ACK timeouts). All flat at zero per second during every run.</a:t>
            </a:r>
          </a:p>
          <a:p/>
          <a:p>
            <a:r>
              <a:t>How we know it is not PCIe: lspci shows 64 GT/s x16 on the ConnectX-8 and on the GPU, about 120 GB/s per direction, against about 60 GB/s used per rail.</a:t>
            </a:r>
          </a:p>
          <a:p/>
          <a:p>
            <a:r>
              <a:t>The GPUDirect-off run (next slide) shows the same bytes on the wire taking 1.6x longer — that is the cost of bouncing through host memory, not a network effect.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queue pair is the RDMA equivalent of a connection between two NICs. NCCL opens one per pair of communicating GPUs by default. The knob lets it open several and stripe a message across them; it is a common tuning recommendation on large fabrics where a single flow cannot fill a link because of how switches spread traffic.</a:t>
            </a:r>
          </a:p>
          <a:p/>
          <a:p>
            <a:r>
              <a:t>Here there is one switch hop between matching rails, so striping buys nothing and costs overhead. The counters make the explanation concrete: fewer bytes per second on each rail, no errors, no congestion — the sender is simply doing less useful work per unit time.</a:t>
            </a:r>
          </a:p>
          <a:p/>
          <a:p>
            <a:r>
              <a:t>The p-values are from Welch's t-test across the five repeats of baseline versus change; run-to-run spread within a cell is under 2 % except one 4 GiB outlier, so the differences are real.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bucket-size result is the practical takeaway for a training team: fewer, larger all-reduces amortise the fixed cost we saw on the small-message slide. It recovers most of the gap between the RDMA and NVLink runs without touching the network.</a:t>
            </a:r>
          </a:p>
          <a:p/>
          <a:p>
            <a:r>
              <a:t>The Tree entry is kept on purpose: the exercise asks for honest reporting, and 'that configuration is invalid' is a finding too.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about scheduling at scale: add a gang scheduler (Kueue) so multi-pod Jobs start together, and label nodes with their NVLink domain and fabric block so claims land where the fast path exists. Both are outside the two-tray scope but the manifests already assume one pod per tray and per-pod claims.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194560"/>
            <a:ext cx="10972800" cy="1371600"/>
          </a:xfrm>
          <a:prstGeom prst="rect">
            <a:avLst/>
          </a:prstGeom>
          <a:noFill/>
        </p:spPr>
        <p:txBody>
          <a:bodyPr wrap="none">
            <a:spAutoFit/>
          </a:bodyPr>
          <a:lstStyle/>
          <a:p>
            <a:pPr>
              <a:defRPr sz="3400" b="1">
                <a:solidFill>
                  <a:srgbClr val="0B0B0B"/>
                </a:solidFill>
              </a:defRPr>
            </a:pPr>
            <a:r>
              <a:t>Distributed communication on a GB300 pair: measure, diagnose, one change, proof</a:t>
            </a:r>
          </a:p>
          <a:p>
            <a:pPr>
              <a:defRPr sz="1800">
                <a:solidFill>
                  <a:srgbClr val="52514E"/>
                </a:solidFill>
              </a:defRPr>
            </a:pPr>
            <a:r>
              <a:t>NCCL all-reduce · NVLink vs RDMA vs TCP · DDP scaling · one controlled optimization, and the counters behind every number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1 · Architecture: two trays, three networks, one Job per experiment</a:t>
            </a:r>
          </a:p>
        </p:txBody>
      </p:sp>
      <p:pic>
        <p:nvPicPr>
          <p:cNvPr id="3" name="Picture 2" descr="architecture.png"/>
          <p:cNvPicPr>
            <a:picLocks noChangeAspect="1"/>
          </p:cNvPicPr>
          <p:nvPr/>
        </p:nvPicPr>
        <p:blipFill>
          <a:blip r:embed="rId3"/>
          <a:stretch>
            <a:fillRect/>
          </a:stretch>
        </p:blipFill>
        <p:spPr>
          <a:xfrm>
            <a:off x="1166914" y="1051560"/>
            <a:ext cx="9857866" cy="55778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1 · Why DRA instead of the device plugin, and why dranet for the NICs</a:t>
            </a:r>
          </a:p>
        </p:txBody>
      </p:sp>
      <p:sp>
        <p:nvSpPr>
          <p:cNvPr id="3" name="TextBox 2"/>
          <p:cNvSpPr txBox="1"/>
          <p:nvPr/>
        </p:nvSpPr>
        <p:spPr>
          <a:xfrm>
            <a:off x="548640" y="1188720"/>
            <a:ext cx="10972800" cy="5029200"/>
          </a:xfrm>
          <a:prstGeom prst="rect">
            <a:avLst/>
          </a:prstGeom>
          <a:noFill/>
        </p:spPr>
        <p:txBody>
          <a:bodyPr wrap="square">
            <a:spAutoFit/>
          </a:bodyPr>
          <a:lstStyle/>
          <a:p>
            <a:pPr>
              <a:spcAft>
                <a:spcPts val="600"/>
              </a:spcAft>
              <a:defRPr sz="1400">
                <a:solidFill>
                  <a:srgbClr val="0B0B0B"/>
                </a:solidFill>
              </a:defRPr>
            </a:pPr>
            <a:r>
              <a:t>• Device plugin (the old way): a node advertises an opaque count such as nvidia.com/gpu: 4; the scheduler only counts; a pod cannot say which GPU, cannot ask for a NIC that matches its GPU, and cannot see device attributes</a:t>
            </a:r>
          </a:p>
          <a:p>
            <a:pPr>
              <a:spcAft>
                <a:spcPts val="600"/>
              </a:spcAft>
              <a:defRPr sz="1400">
                <a:solidFill>
                  <a:srgbClr val="0B0B0B"/>
                </a:solidFill>
              </a:defRPr>
            </a:pPr>
            <a:r>
              <a:t>• DRA (Dynamic Resource Allocation, GA in Kubernetes 1.34): devices are published as structured objects with attributes; a pod writes a ResourceClaim against a DeviceClass; the scheduler allocates the concrete devices and the pod's manifest says exactly what it got</a:t>
            </a:r>
          </a:p>
          <a:p>
            <a:pPr>
              <a:spcAft>
                <a:spcPts val="600"/>
              </a:spcAft>
              <a:defRPr sz="1400">
                <a:solidFill>
                  <a:srgbClr val="0B0B0B"/>
                </a:solidFill>
              </a:defRPr>
            </a:pPr>
            <a:r>
              <a:t>• One mechanism for GPUs and NICs: the GPU Operator publishes gpu.nvidia.com; the dranet driver publishes the rail NICs as dra.net devices with their name, RDMA capability and PCI address — so a pod claims 4 GPUs and the rails it needs in the same manifest, and we can vary the rail count (1, 2, 4) per experiment without touching the host</a:t>
            </a:r>
          </a:p>
          <a:p>
            <a:pPr>
              <a:spcAft>
                <a:spcPts val="600"/>
              </a:spcAft>
              <a:defRPr sz="1400">
                <a:solidFill>
                  <a:srgbClr val="0B0B0B"/>
                </a:solidFill>
              </a:defRPr>
            </a:pPr>
            <a:r>
              <a:t>• Why the dranet fork: upstream moves the NIC into the pod, which on this site trips the node health check and gets the tray drained. The fork gives the pod an IPVLAN child of the rail instead — the NIC and its RDMA device stay on the host, the pod still gets RDMA (shared RDMA namespace mode, set at node bring-up before Kubernetes starts)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Baseline: all-reduce bandwidth grows with message size, and the network path sets the ceiling</a:t>
            </a:r>
          </a:p>
        </p:txBody>
      </p:sp>
      <p:pic>
        <p:nvPicPr>
          <p:cNvPr id="3" name="Picture 2" descr="size_vs_busbw.png"/>
          <p:cNvPicPr>
            <a:picLocks noChangeAspect="1"/>
          </p:cNvPicPr>
          <p:nvPr/>
        </p:nvPicPr>
        <p:blipFill>
          <a:blip r:embed="rId3"/>
          <a:stretch>
            <a:fillRect/>
          </a:stretch>
        </p:blipFill>
        <p:spPr>
          <a:xfrm>
            <a:off x="457200" y="1188720"/>
            <a:ext cx="6949440" cy="4142050"/>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Same 8-GPU all-reduce, three paths. Over NVLink it reaches 835 GB/s; over the four RDMA rails about 425 GB/s; over TCP on one rail 118 GB/s; over TCP on the pod overlay 4 GB/s</a:t>
            </a:r>
          </a:p>
          <a:p>
            <a:pPr>
              <a:spcAft>
                <a:spcPts val="600"/>
              </a:spcAft>
              <a:defRPr sz="1200">
                <a:solidFill>
                  <a:srgbClr val="0B0B0B"/>
                </a:solidFill>
              </a:defRPr>
            </a:pPr>
            <a:r>
              <a:t>• Small messages are slow on every path because fixed per-operation costs dominate; from a few hundred MiB the wire dominates and the paths separate</a:t>
            </a:r>
          </a:p>
          <a:p>
            <a:pPr>
              <a:spcAft>
                <a:spcPts val="600"/>
              </a:spcAft>
              <a:defRPr sz="1200">
                <a:solidFill>
                  <a:srgbClr val="0B0B0B"/>
                </a:solidFill>
              </a:defRPr>
            </a:pPr>
            <a:r>
              <a:t>• Which path was actually used is read from NCCL's own connection log for every run, not guessed from the speed</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1389888"/>
                <a:gridCol w="1389888"/>
                <a:gridCol w="1389888"/>
                <a:gridCol w="1389888"/>
                <a:gridCol w="1389888"/>
              </a:tblGrid>
              <a:tr h="274319">
                <a:tc>
                  <a:txBody>
                    <a:bodyPr/>
                    <a:lstStyle/>
                    <a:p>
                      <a:pPr>
                        <a:defRPr sz="800" b="1"/>
                      </a:pPr>
                      <a:r>
                        <a:t>size</a:t>
                      </a:r>
                    </a:p>
                  </a:txBody>
                  <a:tcPr/>
                </a:tc>
                <a:tc>
                  <a:txBody>
                    <a:bodyPr/>
                    <a:lstStyle/>
                    <a:p>
                      <a:pPr>
                        <a:defRPr sz="800" b="1"/>
                      </a:pPr>
                      <a:r>
                        <a:t>nvlink</a:t>
                      </a:r>
                    </a:p>
                  </a:txBody>
                  <a:tcPr/>
                </a:tc>
                <a:tc>
                  <a:txBody>
                    <a:bodyPr/>
                    <a:lstStyle/>
                    <a:p>
                      <a:pPr>
                        <a:defRPr sz="800" b="1"/>
                      </a:pPr>
                      <a:r>
                        <a:t>rdma</a:t>
                      </a:r>
                    </a:p>
                  </a:txBody>
                  <a:tcPr/>
                </a:tc>
                <a:tc>
                  <a:txBody>
                    <a:bodyPr/>
                    <a:lstStyle/>
                    <a:p>
                      <a:pPr>
                        <a:defRPr sz="800" b="1"/>
                      </a:pPr>
                      <a:r>
                        <a:t>tcp</a:t>
                      </a:r>
                    </a:p>
                  </a:txBody>
                  <a:tcPr/>
                </a:tc>
                <a:tc>
                  <a:txBody>
                    <a:bodyPr/>
                    <a:lstStyle/>
                    <a:p>
                      <a:pPr>
                        <a:defRPr sz="800" b="1"/>
                      </a:pPr>
                      <a:r>
                        <a:t>tcp-rail</a:t>
                      </a:r>
                    </a:p>
                  </a:txBody>
                  <a:tcPr/>
                </a:tc>
              </a:tr>
              <a:tr h="274319">
                <a:tc>
                  <a:txBody>
                    <a:bodyPr/>
                    <a:lstStyle/>
                    <a:p>
                      <a:pPr>
                        <a:defRPr sz="800"/>
                      </a:pPr>
                      <a:r>
                        <a:t>1MiB</a:t>
                      </a:r>
                    </a:p>
                  </a:txBody>
                  <a:tcPr/>
                </a:tc>
                <a:tc>
                  <a:txBody>
                    <a:bodyPr/>
                    <a:lstStyle/>
                    <a:p>
                      <a:pPr>
                        <a:defRPr sz="800"/>
                      </a:pPr>
                      <a:r>
                        <a:t>22</a:t>
                      </a:r>
                    </a:p>
                  </a:txBody>
                  <a:tcPr/>
                </a:tc>
                <a:tc>
                  <a:txBody>
                    <a:bodyPr/>
                    <a:lstStyle/>
                    <a:p>
                      <a:pPr>
                        <a:defRPr sz="800"/>
                      </a:pPr>
                      <a:r>
                        <a:t>20.3</a:t>
                      </a:r>
                    </a:p>
                  </a:txBody>
                  <a:tcPr/>
                </a:tc>
                <a:tc>
                  <a:txBody>
                    <a:bodyPr/>
                    <a:lstStyle/>
                    <a:p>
                      <a:pPr>
                        <a:defRPr sz="800"/>
                      </a:pPr>
                      <a:r>
                        <a:t>nan</a:t>
                      </a:r>
                    </a:p>
                  </a:txBody>
                  <a:tcPr/>
                </a:tc>
                <a:tc>
                  <a:txBody>
                    <a:bodyPr/>
                    <a:lstStyle/>
                    <a:p>
                      <a:pPr>
                        <a:defRPr sz="800"/>
                      </a:pPr>
                      <a:r>
                        <a:t>nan</a:t>
                      </a:r>
                    </a:p>
                  </a:txBody>
                  <a:tcPr/>
                </a:tc>
              </a:tr>
              <a:tr h="274319">
                <a:tc>
                  <a:txBody>
                    <a:bodyPr/>
                    <a:lstStyle/>
                    <a:p>
                      <a:pPr>
                        <a:defRPr sz="800"/>
                      </a:pPr>
                      <a:r>
                        <a:t>2MiB</a:t>
                      </a:r>
                    </a:p>
                  </a:txBody>
                  <a:tcPr/>
                </a:tc>
                <a:tc>
                  <a:txBody>
                    <a:bodyPr/>
                    <a:lstStyle/>
                    <a:p>
                      <a:pPr>
                        <a:defRPr sz="800"/>
                      </a:pPr>
                      <a:r>
                        <a:t>50.6</a:t>
                      </a:r>
                    </a:p>
                  </a:txBody>
                  <a:tcPr/>
                </a:tc>
                <a:tc>
                  <a:txBody>
                    <a:bodyPr/>
                    <a:lstStyle/>
                    <a:p>
                      <a:pPr>
                        <a:defRPr sz="800"/>
                      </a:pPr>
                      <a:r>
                        <a:t>17.5</a:t>
                      </a:r>
                    </a:p>
                  </a:txBody>
                  <a:tcPr/>
                </a:tc>
                <a:tc>
                  <a:txBody>
                    <a:bodyPr/>
                    <a:lstStyle/>
                    <a:p>
                      <a:pPr>
                        <a:defRPr sz="800"/>
                      </a:pPr>
                      <a:r>
                        <a:t>nan</a:t>
                      </a:r>
                    </a:p>
                  </a:txBody>
                  <a:tcPr/>
                </a:tc>
                <a:tc>
                  <a:txBody>
                    <a:bodyPr/>
                    <a:lstStyle/>
                    <a:p>
                      <a:pPr>
                        <a:defRPr sz="800"/>
                      </a:pPr>
                      <a:r>
                        <a:t>nan</a:t>
                      </a:r>
                    </a:p>
                  </a:txBody>
                  <a:tcPr/>
                </a:tc>
              </a:tr>
              <a:tr h="274319">
                <a:tc>
                  <a:txBody>
                    <a:bodyPr/>
                    <a:lstStyle/>
                    <a:p>
                      <a:pPr>
                        <a:defRPr sz="800"/>
                      </a:pPr>
                      <a:r>
                        <a:t>4MiB</a:t>
                      </a:r>
                    </a:p>
                  </a:txBody>
                  <a:tcPr/>
                </a:tc>
                <a:tc>
                  <a:txBody>
                    <a:bodyPr/>
                    <a:lstStyle/>
                    <a:p>
                      <a:pPr>
                        <a:defRPr sz="800"/>
                      </a:pPr>
                      <a:r>
                        <a:t>113</a:t>
                      </a:r>
                    </a:p>
                  </a:txBody>
                  <a:tcPr/>
                </a:tc>
                <a:tc>
                  <a:txBody>
                    <a:bodyPr/>
                    <a:lstStyle/>
                    <a:p>
                      <a:pPr>
                        <a:defRPr sz="800"/>
                      </a:pPr>
                      <a:r>
                        <a:t>51.3</a:t>
                      </a:r>
                    </a:p>
                  </a:txBody>
                  <a:tcPr/>
                </a:tc>
                <a:tc>
                  <a:txBody>
                    <a:bodyPr/>
                    <a:lstStyle/>
                    <a:p>
                      <a:pPr>
                        <a:defRPr sz="800"/>
                      </a:pPr>
                      <a:r>
                        <a:t>nan</a:t>
                      </a:r>
                    </a:p>
                  </a:txBody>
                  <a:tcPr/>
                </a:tc>
                <a:tc>
                  <a:txBody>
                    <a:bodyPr/>
                    <a:lstStyle/>
                    <a:p>
                      <a:pPr>
                        <a:defRPr sz="800"/>
                      </a:pPr>
                      <a:r>
                        <a:t>nan</a:t>
                      </a:r>
                    </a:p>
                  </a:txBody>
                  <a:tcPr/>
                </a:tc>
              </a:tr>
              <a:tr h="274319">
                <a:tc>
                  <a:txBody>
                    <a:bodyPr/>
                    <a:lstStyle/>
                    <a:p>
                      <a:pPr>
                        <a:defRPr sz="800"/>
                      </a:pPr>
                      <a:r>
                        <a:t>8MiB</a:t>
                      </a:r>
                    </a:p>
                  </a:txBody>
                  <a:tcPr/>
                </a:tc>
                <a:tc>
                  <a:txBody>
                    <a:bodyPr/>
                    <a:lstStyle/>
                    <a:p>
                      <a:pPr>
                        <a:defRPr sz="800"/>
                      </a:pPr>
                      <a:r>
                        <a:t>199</a:t>
                      </a:r>
                    </a:p>
                  </a:txBody>
                  <a:tcPr/>
                </a:tc>
                <a:tc>
                  <a:txBody>
                    <a:bodyPr/>
                    <a:lstStyle/>
                    <a:p>
                      <a:pPr>
                        <a:defRPr sz="800"/>
                      </a:pPr>
                      <a:r>
                        <a:t>91.7</a:t>
                      </a:r>
                    </a:p>
                  </a:txBody>
                  <a:tcPr/>
                </a:tc>
                <a:tc>
                  <a:txBody>
                    <a:bodyPr/>
                    <a:lstStyle/>
                    <a:p>
                      <a:pPr>
                        <a:defRPr sz="800"/>
                      </a:pPr>
                      <a:r>
                        <a:t>nan</a:t>
                      </a:r>
                    </a:p>
                  </a:txBody>
                  <a:tcPr/>
                </a:tc>
                <a:tc>
                  <a:txBody>
                    <a:bodyPr/>
                    <a:lstStyle/>
                    <a:p>
                      <a:pPr>
                        <a:defRPr sz="800"/>
                      </a:pPr>
                      <a:r>
                        <a:t>nan</a:t>
                      </a:r>
                    </a:p>
                  </a:txBody>
                  <a:tcPr/>
                </a:tc>
              </a:tr>
              <a:tr h="274324">
                <a:tc>
                  <a:txBody>
                    <a:bodyPr/>
                    <a:lstStyle/>
                    <a:p>
                      <a:pPr>
                        <a:defRPr sz="800"/>
                      </a:pPr>
                      <a:r>
                        <a:t>16MiB</a:t>
                      </a:r>
                    </a:p>
                  </a:txBody>
                  <a:tcPr/>
                </a:tc>
                <a:tc>
                  <a:txBody>
                    <a:bodyPr/>
                    <a:lstStyle/>
                    <a:p>
                      <a:pPr>
                        <a:defRPr sz="800"/>
                      </a:pPr>
                      <a:r>
                        <a:t>267</a:t>
                      </a:r>
                    </a:p>
                  </a:txBody>
                  <a:tcPr/>
                </a:tc>
                <a:tc>
                  <a:txBody>
                    <a:bodyPr/>
                    <a:lstStyle/>
                    <a:p>
                      <a:pPr>
                        <a:defRPr sz="800"/>
                      </a:pPr>
                      <a:r>
                        <a:t>132</a:t>
                      </a:r>
                    </a:p>
                  </a:txBody>
                  <a:tcPr/>
                </a:tc>
                <a:tc>
                  <a:txBody>
                    <a:bodyPr/>
                    <a:lstStyle/>
                    <a:p>
                      <a:pPr>
                        <a:defRPr sz="800"/>
                      </a:pPr>
                      <a:r>
                        <a:t>3.68</a:t>
                      </a:r>
                    </a:p>
                  </a:txBody>
                  <a:tcPr/>
                </a:tc>
                <a:tc>
                  <a:txBody>
                    <a:bodyPr/>
                    <a:lstStyle/>
                    <a:p>
                      <a:pPr>
                        <a:defRPr sz="800"/>
                      </a:pPr>
                      <a:r>
                        <a:t>73.1</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Small messages: the latency floor</a:t>
            </a:r>
          </a:p>
        </p:txBody>
      </p:sp>
      <p:pic>
        <p:nvPicPr>
          <p:cNvPr id="3" name="Picture 2" descr="small_message_latency.png"/>
          <p:cNvPicPr>
            <a:picLocks noChangeAspect="1"/>
          </p:cNvPicPr>
          <p:nvPr/>
        </p:nvPicPr>
        <p:blipFill>
          <a:blip r:embed="rId3"/>
          <a:stretch>
            <a:fillRect/>
          </a:stretch>
        </p:blipFill>
        <p:spPr>
          <a:xfrm>
            <a:off x="457200" y="1188720"/>
            <a:ext cx="6949440" cy="4668470"/>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Between 4 KiB and 1 MiB an all-reduce costs roughly the same time whatever the size: around 20 to 80 microseconds</a:t>
            </a:r>
          </a:p>
          <a:p>
            <a:pPr>
              <a:spcAft>
                <a:spcPts val="600"/>
              </a:spcAft>
              <a:defRPr sz="1200">
                <a:solidFill>
                  <a:srgbClr val="0B0B0B"/>
                </a:solidFill>
              </a:defRPr>
            </a:pPr>
            <a:r>
              <a:t>• That fixed cost is the reason a training step with many small gradient messages does not benefit from a faster wire — see the DDP bucket result later</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2316480"/>
                <a:gridCol w="2316480"/>
                <a:gridCol w="2316480"/>
              </a:tblGrid>
              <a:tr h="274319">
                <a:tc>
                  <a:txBody>
                    <a:bodyPr/>
                    <a:lstStyle/>
                    <a:p>
                      <a:pPr>
                        <a:defRPr sz="800" b="1"/>
                      </a:pPr>
                      <a:r>
                        <a:t>size</a:t>
                      </a:r>
                    </a:p>
                  </a:txBody>
                  <a:tcPr/>
                </a:tc>
                <a:tc>
                  <a:txBody>
                    <a:bodyPr/>
                    <a:lstStyle/>
                    <a:p>
                      <a:pPr>
                        <a:defRPr sz="800" b="1"/>
                      </a:pPr>
                      <a:r>
                        <a:t>nvlink_us</a:t>
                      </a:r>
                    </a:p>
                  </a:txBody>
                  <a:tcPr/>
                </a:tc>
                <a:tc>
                  <a:txBody>
                    <a:bodyPr/>
                    <a:lstStyle/>
                    <a:p>
                      <a:pPr>
                        <a:defRPr sz="800" b="1"/>
                      </a:pPr>
                      <a:r>
                        <a:t>rdma_us</a:t>
                      </a:r>
                    </a:p>
                  </a:txBody>
                  <a:tcPr/>
                </a:tc>
              </a:tr>
              <a:tr h="274319">
                <a:tc>
                  <a:txBody>
                    <a:bodyPr/>
                    <a:lstStyle/>
                    <a:p>
                      <a:pPr>
                        <a:defRPr sz="800"/>
                      </a:pPr>
                      <a:r>
                        <a:t>4KiB</a:t>
                      </a:r>
                    </a:p>
                  </a:txBody>
                  <a:tcPr/>
                </a:tc>
                <a:tc>
                  <a:txBody>
                    <a:bodyPr/>
                    <a:lstStyle/>
                    <a:p>
                      <a:pPr>
                        <a:defRPr sz="800"/>
                      </a:pPr>
                      <a:r>
                        <a:t>59.8</a:t>
                      </a:r>
                    </a:p>
                  </a:txBody>
                  <a:tcPr/>
                </a:tc>
                <a:tc>
                  <a:txBody>
                    <a:bodyPr/>
                    <a:lstStyle/>
                    <a:p>
                      <a:pPr>
                        <a:defRPr sz="800"/>
                      </a:pPr>
                      <a:r>
                        <a:t>56.2</a:t>
                      </a:r>
                    </a:p>
                  </a:txBody>
                  <a:tcPr/>
                </a:tc>
              </a:tr>
              <a:tr h="274319">
                <a:tc>
                  <a:txBody>
                    <a:bodyPr/>
                    <a:lstStyle/>
                    <a:p>
                      <a:pPr>
                        <a:defRPr sz="800"/>
                      </a:pPr>
                      <a:r>
                        <a:t>8KiB</a:t>
                      </a:r>
                    </a:p>
                  </a:txBody>
                  <a:tcPr/>
                </a:tc>
                <a:tc>
                  <a:txBody>
                    <a:bodyPr/>
                    <a:lstStyle/>
                    <a:p>
                      <a:pPr>
                        <a:defRPr sz="800"/>
                      </a:pPr>
                      <a:r>
                        <a:t>68.8</a:t>
                      </a:r>
                    </a:p>
                  </a:txBody>
                  <a:tcPr/>
                </a:tc>
                <a:tc>
                  <a:txBody>
                    <a:bodyPr/>
                    <a:lstStyle/>
                    <a:p>
                      <a:pPr>
                        <a:defRPr sz="800"/>
                      </a:pPr>
                      <a:r>
                        <a:t>66.6</a:t>
                      </a:r>
                    </a:p>
                  </a:txBody>
                  <a:tcPr/>
                </a:tc>
              </a:tr>
              <a:tr h="274319">
                <a:tc>
                  <a:txBody>
                    <a:bodyPr/>
                    <a:lstStyle/>
                    <a:p>
                      <a:pPr>
                        <a:defRPr sz="800"/>
                      </a:pPr>
                      <a:r>
                        <a:t>16KiB</a:t>
                      </a:r>
                    </a:p>
                  </a:txBody>
                  <a:tcPr/>
                </a:tc>
                <a:tc>
                  <a:txBody>
                    <a:bodyPr/>
                    <a:lstStyle/>
                    <a:p>
                      <a:pPr>
                        <a:defRPr sz="800"/>
                      </a:pPr>
                      <a:r>
                        <a:t>66.2</a:t>
                      </a:r>
                    </a:p>
                  </a:txBody>
                  <a:tcPr/>
                </a:tc>
                <a:tc>
                  <a:txBody>
                    <a:bodyPr/>
                    <a:lstStyle/>
                    <a:p>
                      <a:pPr>
                        <a:defRPr sz="800"/>
                      </a:pPr>
                      <a:r>
                        <a:t>85</a:t>
                      </a:r>
                    </a:p>
                  </a:txBody>
                  <a:tcPr/>
                </a:tc>
              </a:tr>
              <a:tr h="274319">
                <a:tc>
                  <a:txBody>
                    <a:bodyPr/>
                    <a:lstStyle/>
                    <a:p>
                      <a:pPr>
                        <a:defRPr sz="800"/>
                      </a:pPr>
                      <a:r>
                        <a:t>32KiB</a:t>
                      </a:r>
                    </a:p>
                  </a:txBody>
                  <a:tcPr/>
                </a:tc>
                <a:tc>
                  <a:txBody>
                    <a:bodyPr/>
                    <a:lstStyle/>
                    <a:p>
                      <a:pPr>
                        <a:defRPr sz="800"/>
                      </a:pPr>
                      <a:r>
                        <a:t>73.7</a:t>
                      </a:r>
                    </a:p>
                  </a:txBody>
                  <a:tcPr/>
                </a:tc>
                <a:tc>
                  <a:txBody>
                    <a:bodyPr/>
                    <a:lstStyle/>
                    <a:p>
                      <a:pPr>
                        <a:defRPr sz="800"/>
                      </a:pPr>
                      <a:r>
                        <a:t>82.4</a:t>
                      </a:r>
                    </a:p>
                  </a:txBody>
                  <a:tcPr/>
                </a:tc>
              </a:tr>
              <a:tr h="274324">
                <a:tc>
                  <a:txBody>
                    <a:bodyPr/>
                    <a:lstStyle/>
                    <a:p>
                      <a:pPr>
                        <a:defRPr sz="800"/>
                      </a:pPr>
                      <a:r>
                        <a:t>64KiB</a:t>
                      </a:r>
                    </a:p>
                  </a:txBody>
                  <a:tcPr/>
                </a:tc>
                <a:tc>
                  <a:txBody>
                    <a:bodyPr/>
                    <a:lstStyle/>
                    <a:p>
                      <a:pPr>
                        <a:defRPr sz="800"/>
                      </a:pPr>
                      <a:r>
                        <a:t>79.5</a:t>
                      </a:r>
                    </a:p>
                  </a:txBody>
                  <a:tcPr/>
                </a:tc>
                <a:tc>
                  <a:txBody>
                    <a:bodyPr/>
                    <a:lstStyle/>
                    <a:p>
                      <a:pPr>
                        <a:defRPr sz="800"/>
                      </a:pPr>
                      <a:r>
                        <a:t>93.7</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Scaling: the training workload from 1 to 8 GPUs</a:t>
            </a:r>
          </a:p>
        </p:txBody>
      </p:sp>
      <p:pic>
        <p:nvPicPr>
          <p:cNvPr id="3" name="Picture 2" descr="scaling_efficiency.png"/>
          <p:cNvPicPr>
            <a:picLocks noChangeAspect="1"/>
          </p:cNvPicPr>
          <p:nvPr/>
        </p:nvPicPr>
        <p:blipFill>
          <a:blip r:embed="rId3"/>
          <a:stretch>
            <a:fillRect/>
          </a:stretch>
        </p:blipFill>
        <p:spPr>
          <a:xfrm>
            <a:off x="457200" y="1188720"/>
            <a:ext cx="6949440" cy="4367682"/>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Workload: a 124M-parameter GPT trained with PyTorch DDP on synthetic tokens; the same code runs at 1, 2, 4 GPUs on one tray and at 8 GPUs across two trays</a:t>
            </a:r>
          </a:p>
          <a:p>
            <a:pPr>
              <a:spcAft>
                <a:spcPts val="600"/>
              </a:spcAft>
              <a:defRPr sz="1200">
                <a:solidFill>
                  <a:srgbClr val="0B0B0B"/>
                </a:solidFill>
              </a:defRPr>
            </a:pPr>
            <a:r>
              <a:t>• Efficiency = throughput divided by (N times the single-GPU throughput). 93 % at 2 GPUs, 78 % at 4, 92 % at 8 over NVLink, 69 % at 8 over the rails</a:t>
            </a:r>
          </a:p>
          <a:p>
            <a:pPr>
              <a:spcAft>
                <a:spcPts val="600"/>
              </a:spcAft>
              <a:defRPr sz="1200">
                <a:solidFill>
                  <a:srgbClr val="0B0B0B"/>
                </a:solidFill>
              </a:defRPr>
            </a:pPr>
            <a:r>
              <a:t>• The 'comm' figure is how much of each step the GPU spends in communication kernels (from the PyTorch profiler); at this model size the gradient exchange is a large share of every step</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579120"/>
                <a:gridCol w="579120"/>
                <a:gridCol w="579120"/>
                <a:gridCol w="579120"/>
                <a:gridCol w="579120"/>
                <a:gridCol w="579120"/>
                <a:gridCol w="579120"/>
                <a:gridCol w="579120"/>
                <a:gridCol w="579120"/>
                <a:gridCol w="579120"/>
                <a:gridCol w="579120"/>
                <a:gridCol w="579120"/>
              </a:tblGrid>
              <a:tr h="274319">
                <a:tc>
                  <a:txBody>
                    <a:bodyPr/>
                    <a:lstStyle/>
                    <a:p>
                      <a:pPr>
                        <a:defRPr sz="800" b="1"/>
                      </a:pPr>
                      <a:r>
                        <a:t>run_id</a:t>
                      </a:r>
                    </a:p>
                  </a:txBody>
                  <a:tcPr/>
                </a:tc>
                <a:tc>
                  <a:txBody>
                    <a:bodyPr/>
                    <a:lstStyle/>
                    <a:p>
                      <a:pPr>
                        <a:defRPr sz="800" b="1"/>
                      </a:pPr>
                      <a:r>
                        <a:t>gpus</a:t>
                      </a:r>
                    </a:p>
                  </a:txBody>
                  <a:tcPr/>
                </a:tc>
                <a:tc>
                  <a:txBody>
                    <a:bodyPr/>
                    <a:lstStyle/>
                    <a:p>
                      <a:pPr>
                        <a:defRPr sz="800" b="1"/>
                      </a:pPr>
                      <a:r>
                        <a:t>nodes</a:t>
                      </a:r>
                    </a:p>
                  </a:txBody>
                  <a:tcPr/>
                </a:tc>
                <a:tc>
                  <a:txBody>
                    <a:bodyPr/>
                    <a:lstStyle/>
                    <a:p>
                      <a:pPr>
                        <a:defRPr sz="800" b="1"/>
                      </a:pPr>
                      <a:r>
                        <a:t>transport</a:t>
                      </a:r>
                    </a:p>
                  </a:txBody>
                  <a:tcPr/>
                </a:tc>
                <a:tc>
                  <a:txBody>
                    <a:bodyPr/>
                    <a:lstStyle/>
                    <a:p>
                      <a:pPr>
                        <a:defRPr sz="800" b="1"/>
                      </a:pPr>
                      <a:r>
                        <a:t>path</a:t>
                      </a:r>
                    </a:p>
                  </a:txBody>
                  <a:tcPr/>
                </a:tc>
                <a:tc>
                  <a:txBody>
                    <a:bodyPr/>
                    <a:lstStyle/>
                    <a:p>
                      <a:pPr>
                        <a:defRPr sz="800" b="1"/>
                      </a:pPr>
                      <a:r>
                        <a:t>samples_per_s</a:t>
                      </a:r>
                    </a:p>
                  </a:txBody>
                  <a:tcPr/>
                </a:tc>
                <a:tc>
                  <a:txBody>
                    <a:bodyPr/>
                    <a:lstStyle/>
                    <a:p>
                      <a:pPr>
                        <a:defRPr sz="800" b="1"/>
                      </a:pPr>
                      <a:r>
                        <a:t>step_s</a:t>
                      </a:r>
                    </a:p>
                  </a:txBody>
                  <a:tcPr/>
                </a:tc>
                <a:tc>
                  <a:txBody>
                    <a:bodyPr/>
                    <a:lstStyle/>
                    <a:p>
                      <a:pPr>
                        <a:defRPr sz="800" b="1"/>
                      </a:pPr>
                      <a:r>
                        <a:t>step_p90_s</a:t>
                      </a:r>
                    </a:p>
                  </a:txBody>
                  <a:tcPr/>
                </a:tc>
                <a:tc>
                  <a:txBody>
                    <a:bodyPr/>
                    <a:lstStyle/>
                    <a:p>
                      <a:pPr>
                        <a:defRPr sz="800" b="1"/>
                      </a:pPr>
                      <a:r>
                        <a:t>comm_fraction</a:t>
                      </a:r>
                    </a:p>
                  </a:txBody>
                  <a:tcPr/>
                </a:tc>
                <a:tc>
                  <a:txBody>
                    <a:bodyPr/>
                    <a:lstStyle/>
                    <a:p>
                      <a:pPr>
                        <a:defRPr sz="800" b="1"/>
                      </a:pPr>
                      <a:r>
                        <a:t>speedup</a:t>
                      </a:r>
                    </a:p>
                  </a:txBody>
                  <a:tcPr/>
                </a:tc>
                <a:tc>
                  <a:txBody>
                    <a:bodyPr/>
                    <a:lstStyle/>
                    <a:p>
                      <a:pPr>
                        <a:defRPr sz="800" b="1"/>
                      </a:pPr>
                      <a:r>
                        <a:t>efficiency</a:t>
                      </a:r>
                    </a:p>
                  </a:txBody>
                  <a:tcPr/>
                </a:tc>
                <a:tc>
                  <a:txBody>
                    <a:bodyPr/>
                    <a:lstStyle/>
                    <a:p>
                      <a:pPr>
                        <a:defRPr sz="800" b="1"/>
                      </a:pPr>
                      <a:r>
                        <a:t>bucket_cap_mb</a:t>
                      </a:r>
                    </a:p>
                  </a:txBody>
                  <a:tcPr/>
                </a:tc>
              </a:tr>
              <a:tr h="274319">
                <a:tc>
                  <a:txBody>
                    <a:bodyPr/>
                    <a:lstStyle/>
                    <a:p>
                      <a:pPr>
                        <a:defRPr sz="800"/>
                      </a:pPr>
                      <a:r>
                        <a:t>e3-g1</a:t>
                      </a:r>
                    </a:p>
                  </a:txBody>
                  <a:tcPr/>
                </a:tc>
                <a:tc>
                  <a:txBody>
                    <a:bodyPr/>
                    <a:lstStyle/>
                    <a:p>
                      <a:pPr>
                        <a:defRPr sz="800"/>
                      </a:pPr>
                      <a:r>
                        <a:t>1</a:t>
                      </a:r>
                    </a:p>
                  </a:txBody>
                  <a:tcPr/>
                </a:tc>
                <a:tc>
                  <a:txBody>
                    <a:bodyPr/>
                    <a:lstStyle/>
                    <a:p>
                      <a:pPr>
                        <a:defRPr sz="800"/>
                      </a:pPr>
                      <a:r>
                        <a:t>1</a:t>
                      </a:r>
                    </a:p>
                  </a:txBody>
                  <a:tcPr/>
                </a:tc>
                <a:tc>
                  <a:txBody>
                    <a:bodyPr/>
                    <a:lstStyle/>
                    <a:p>
                      <a:pPr>
                        <a:defRPr sz="800"/>
                      </a:pPr>
                      <a:r>
                        <a:t>nvlink</a:t>
                      </a:r>
                    </a:p>
                  </a:txBody>
                  <a:tcPr/>
                </a:tc>
                <a:tc>
                  <a:txBody>
                    <a:bodyPr/>
                    <a:lstStyle/>
                    <a:p>
                      <a:pPr>
                        <a:defRPr sz="800"/>
                      </a:pPr>
                      <a:r>
                        <a:t>local</a:t>
                      </a:r>
                    </a:p>
                  </a:txBody>
                  <a:tcPr/>
                </a:tc>
                <a:tc>
                  <a:txBody>
                    <a:bodyPr/>
                    <a:lstStyle/>
                    <a:p>
                      <a:pPr>
                        <a:defRPr sz="800"/>
                      </a:pPr>
                      <a:r>
                        <a:t>381</a:t>
                      </a:r>
                    </a:p>
                  </a:txBody>
                  <a:tcPr/>
                </a:tc>
                <a:tc>
                  <a:txBody>
                    <a:bodyPr/>
                    <a:lstStyle/>
                    <a:p>
                      <a:pPr>
                        <a:defRPr sz="800"/>
                      </a:pPr>
                      <a:r>
                        <a:t>0.021</a:t>
                      </a:r>
                    </a:p>
                  </a:txBody>
                  <a:tcPr/>
                </a:tc>
                <a:tc>
                  <a:txBody>
                    <a:bodyPr/>
                    <a:lstStyle/>
                    <a:p>
                      <a:pPr>
                        <a:defRPr sz="800"/>
                      </a:pPr>
                      <a:r>
                        <a:t>0.021</a:t>
                      </a:r>
                    </a:p>
                  </a:txBody>
                  <a:tcPr/>
                </a:tc>
                <a:tc>
                  <a:txBody>
                    <a:bodyPr/>
                    <a:lstStyle/>
                    <a:p>
                      <a:pPr>
                        <a:defRPr sz="800"/>
                      </a:pPr>
                      <a:r>
                        <a:t>0</a:t>
                      </a:r>
                    </a:p>
                  </a:txBody>
                  <a:tcPr/>
                </a:tc>
                <a:tc>
                  <a:txBody>
                    <a:bodyPr/>
                    <a:lstStyle/>
                    <a:p>
                      <a:pPr>
                        <a:defRPr sz="800"/>
                      </a:pPr>
                      <a:r>
                        <a:t>1</a:t>
                      </a:r>
                    </a:p>
                  </a:txBody>
                  <a:tcPr/>
                </a:tc>
                <a:tc>
                  <a:txBody>
                    <a:bodyPr/>
                    <a:lstStyle/>
                    <a:p>
                      <a:pPr>
                        <a:defRPr sz="800"/>
                      </a:pPr>
                      <a:r>
                        <a:t>1</a:t>
                      </a:r>
                    </a:p>
                  </a:txBody>
                  <a:tcPr/>
                </a:tc>
                <a:tc>
                  <a:txBody>
                    <a:bodyPr/>
                    <a:lstStyle/>
                    <a:p>
                      <a:pPr>
                        <a:defRPr sz="800"/>
                      </a:pPr>
                      <a:r>
                        <a:t>25</a:t>
                      </a:r>
                    </a:p>
                  </a:txBody>
                  <a:tcPr/>
                </a:tc>
              </a:tr>
              <a:tr h="274319">
                <a:tc>
                  <a:txBody>
                    <a:bodyPr/>
                    <a:lstStyle/>
                    <a:p>
                      <a:pPr>
                        <a:defRPr sz="800"/>
                      </a:pPr>
                      <a:r>
                        <a:t>e3-g2</a:t>
                      </a:r>
                    </a:p>
                  </a:txBody>
                  <a:tcPr/>
                </a:tc>
                <a:tc>
                  <a:txBody>
                    <a:bodyPr/>
                    <a:lstStyle/>
                    <a:p>
                      <a:pPr>
                        <a:defRPr sz="800"/>
                      </a:pPr>
                      <a:r>
                        <a:t>2</a:t>
                      </a:r>
                    </a:p>
                  </a:txBody>
                  <a:tcPr/>
                </a:tc>
                <a:tc>
                  <a:txBody>
                    <a:bodyPr/>
                    <a:lstStyle/>
                    <a:p>
                      <a:pPr>
                        <a:defRPr sz="800"/>
                      </a:pPr>
                      <a:r>
                        <a:t>1</a:t>
                      </a:r>
                    </a:p>
                  </a:txBody>
                  <a:tcPr/>
                </a:tc>
                <a:tc>
                  <a:txBody>
                    <a:bodyPr/>
                    <a:lstStyle/>
                    <a:p>
                      <a:pPr>
                        <a:defRPr sz="800"/>
                      </a:pPr>
                      <a:r>
                        <a:t>nvlink</a:t>
                      </a:r>
                    </a:p>
                  </a:txBody>
                  <a:tcPr/>
                </a:tc>
                <a:tc>
                  <a:txBody>
                    <a:bodyPr/>
                    <a:lstStyle/>
                    <a:p>
                      <a:pPr>
                        <a:defRPr sz="800"/>
                      </a:pPr>
                      <a:r>
                        <a:t>unknown</a:t>
                      </a:r>
                    </a:p>
                  </a:txBody>
                  <a:tcPr/>
                </a:tc>
                <a:tc>
                  <a:txBody>
                    <a:bodyPr/>
                    <a:lstStyle/>
                    <a:p>
                      <a:pPr>
                        <a:defRPr sz="800"/>
                      </a:pPr>
                      <a:r>
                        <a:t>710</a:t>
                      </a:r>
                    </a:p>
                  </a:txBody>
                  <a:tcPr/>
                </a:tc>
                <a:tc>
                  <a:txBody>
                    <a:bodyPr/>
                    <a:lstStyle/>
                    <a:p>
                      <a:pPr>
                        <a:defRPr sz="800"/>
                      </a:pPr>
                      <a:r>
                        <a:t>0.0225</a:t>
                      </a:r>
                    </a:p>
                  </a:txBody>
                  <a:tcPr/>
                </a:tc>
                <a:tc>
                  <a:txBody>
                    <a:bodyPr/>
                    <a:lstStyle/>
                    <a:p>
                      <a:pPr>
                        <a:defRPr sz="800"/>
                      </a:pPr>
                      <a:r>
                        <a:t>0.0225</a:t>
                      </a:r>
                    </a:p>
                  </a:txBody>
                  <a:tcPr/>
                </a:tc>
                <a:tc>
                  <a:txBody>
                    <a:bodyPr/>
                    <a:lstStyle/>
                    <a:p>
                      <a:pPr>
                        <a:defRPr sz="800"/>
                      </a:pPr>
                      <a:r>
                        <a:t>0.057</a:t>
                      </a:r>
                    </a:p>
                  </a:txBody>
                  <a:tcPr/>
                </a:tc>
                <a:tc>
                  <a:txBody>
                    <a:bodyPr/>
                    <a:lstStyle/>
                    <a:p>
                      <a:pPr>
                        <a:defRPr sz="800"/>
                      </a:pPr>
                      <a:r>
                        <a:t>1.86</a:t>
                      </a:r>
                    </a:p>
                  </a:txBody>
                  <a:tcPr/>
                </a:tc>
                <a:tc>
                  <a:txBody>
                    <a:bodyPr/>
                    <a:lstStyle/>
                    <a:p>
                      <a:pPr>
                        <a:defRPr sz="800"/>
                      </a:pPr>
                      <a:r>
                        <a:t>0.932</a:t>
                      </a:r>
                    </a:p>
                  </a:txBody>
                  <a:tcPr/>
                </a:tc>
                <a:tc>
                  <a:txBody>
                    <a:bodyPr/>
                    <a:lstStyle/>
                    <a:p>
                      <a:pPr>
                        <a:defRPr sz="800"/>
                      </a:pPr>
                      <a:r>
                        <a:t>25</a:t>
                      </a:r>
                    </a:p>
                  </a:txBody>
                  <a:tcPr/>
                </a:tc>
              </a:tr>
              <a:tr h="274319">
                <a:tc>
                  <a:txBody>
                    <a:bodyPr/>
                    <a:lstStyle/>
                    <a:p>
                      <a:pPr>
                        <a:defRPr sz="800"/>
                      </a:pPr>
                      <a:r>
                        <a:t>e3-g4</a:t>
                      </a:r>
                    </a:p>
                  </a:txBody>
                  <a:tcPr/>
                </a:tc>
                <a:tc>
                  <a:txBody>
                    <a:bodyPr/>
                    <a:lstStyle/>
                    <a:p>
                      <a:pPr>
                        <a:defRPr sz="800"/>
                      </a:pPr>
                      <a:r>
                        <a:t>4</a:t>
                      </a:r>
                    </a:p>
                  </a:txBody>
                  <a:tcPr/>
                </a:tc>
                <a:tc>
                  <a:txBody>
                    <a:bodyPr/>
                    <a:lstStyle/>
                    <a:p>
                      <a:pPr>
                        <a:defRPr sz="800"/>
                      </a:pPr>
                      <a:r>
                        <a:t>1</a:t>
                      </a:r>
                    </a:p>
                  </a:txBody>
                  <a:tcPr/>
                </a:tc>
                <a:tc>
                  <a:txBody>
                    <a:bodyPr/>
                    <a:lstStyle/>
                    <a:p>
                      <a:pPr>
                        <a:defRPr sz="800"/>
                      </a:pPr>
                      <a:r>
                        <a:t>nvlink</a:t>
                      </a:r>
                    </a:p>
                  </a:txBody>
                  <a:tcPr/>
                </a:tc>
                <a:tc>
                  <a:txBody>
                    <a:bodyPr/>
                    <a:lstStyle/>
                    <a:p>
                      <a:pPr>
                        <a:defRPr sz="800"/>
                      </a:pPr>
                      <a:r>
                        <a:t>unknown</a:t>
                      </a:r>
                    </a:p>
                  </a:txBody>
                  <a:tcPr/>
                </a:tc>
                <a:tc>
                  <a:txBody>
                    <a:bodyPr/>
                    <a:lstStyle/>
                    <a:p>
                      <a:pPr>
                        <a:defRPr sz="800"/>
                      </a:pPr>
                      <a:r>
                        <a:t>1.19e+03</a:t>
                      </a:r>
                    </a:p>
                  </a:txBody>
                  <a:tcPr/>
                </a:tc>
                <a:tc>
                  <a:txBody>
                    <a:bodyPr/>
                    <a:lstStyle/>
                    <a:p>
                      <a:pPr>
                        <a:defRPr sz="800"/>
                      </a:pPr>
                      <a:r>
                        <a:t>0.0269</a:t>
                      </a:r>
                    </a:p>
                  </a:txBody>
                  <a:tcPr/>
                </a:tc>
                <a:tc>
                  <a:txBody>
                    <a:bodyPr/>
                    <a:lstStyle/>
                    <a:p>
                      <a:pPr>
                        <a:defRPr sz="800"/>
                      </a:pPr>
                      <a:r>
                        <a:t>0.0271</a:t>
                      </a:r>
                    </a:p>
                  </a:txBody>
                  <a:tcPr/>
                </a:tc>
                <a:tc>
                  <a:txBody>
                    <a:bodyPr/>
                    <a:lstStyle/>
                    <a:p>
                      <a:pPr>
                        <a:defRPr sz="800"/>
                      </a:pPr>
                      <a:r>
                        <a:t>0.779</a:t>
                      </a:r>
                    </a:p>
                  </a:txBody>
                  <a:tcPr/>
                </a:tc>
                <a:tc>
                  <a:txBody>
                    <a:bodyPr/>
                    <a:lstStyle/>
                    <a:p>
                      <a:pPr>
                        <a:defRPr sz="800"/>
                      </a:pPr>
                      <a:r>
                        <a:t>3.13</a:t>
                      </a:r>
                    </a:p>
                  </a:txBody>
                  <a:tcPr/>
                </a:tc>
                <a:tc>
                  <a:txBody>
                    <a:bodyPr/>
                    <a:lstStyle/>
                    <a:p>
                      <a:pPr>
                        <a:defRPr sz="800"/>
                      </a:pPr>
                      <a:r>
                        <a:t>0.782</a:t>
                      </a:r>
                    </a:p>
                  </a:txBody>
                  <a:tcPr/>
                </a:tc>
                <a:tc>
                  <a:txBody>
                    <a:bodyPr/>
                    <a:lstStyle/>
                    <a:p>
                      <a:pPr>
                        <a:defRPr sz="800"/>
                      </a:pPr>
                      <a:r>
                        <a:t>25</a:t>
                      </a:r>
                    </a:p>
                  </a:txBody>
                  <a:tcPr/>
                </a:tc>
              </a:tr>
              <a:tr h="274319">
                <a:tc>
                  <a:txBody>
                    <a:bodyPr/>
                    <a:lstStyle/>
                    <a:p>
                      <a:pPr>
                        <a:defRPr sz="800"/>
                      </a:pPr>
                      <a:r>
                        <a:t>e3-g8-nvlink</a:t>
                      </a:r>
                    </a:p>
                  </a:txBody>
                  <a:tcPr/>
                </a:tc>
                <a:tc>
                  <a:txBody>
                    <a:bodyPr/>
                    <a:lstStyle/>
                    <a:p>
                      <a:pPr>
                        <a:defRPr sz="800"/>
                      </a:pPr>
                      <a:r>
                        <a:t>8</a:t>
                      </a:r>
                    </a:p>
                  </a:txBody>
                  <a:tcPr/>
                </a:tc>
                <a:tc>
                  <a:txBody>
                    <a:bodyPr/>
                    <a:lstStyle/>
                    <a:p>
                      <a:pPr>
                        <a:defRPr sz="800"/>
                      </a:pPr>
                      <a:r>
                        <a:t>2</a:t>
                      </a:r>
                    </a:p>
                  </a:txBody>
                  <a:tcPr/>
                </a:tc>
                <a:tc>
                  <a:txBody>
                    <a:bodyPr/>
                    <a:lstStyle/>
                    <a:p>
                      <a:pPr>
                        <a:defRPr sz="800"/>
                      </a:pPr>
                      <a:r>
                        <a:t>nvlink</a:t>
                      </a:r>
                    </a:p>
                  </a:txBody>
                  <a:tcPr/>
                </a:tc>
                <a:tc>
                  <a:txBody>
                    <a:bodyPr/>
                    <a:lstStyle/>
                    <a:p>
                      <a:pPr>
                        <a:defRPr sz="800"/>
                      </a:pPr>
                      <a:r>
                        <a:t>nvlink</a:t>
                      </a:r>
                    </a:p>
                  </a:txBody>
                  <a:tcPr/>
                </a:tc>
                <a:tc>
                  <a:txBody>
                    <a:bodyPr/>
                    <a:lstStyle/>
                    <a:p>
                      <a:pPr>
                        <a:defRPr sz="800"/>
                      </a:pPr>
                      <a:r>
                        <a:t>2.8e+03</a:t>
                      </a:r>
                    </a:p>
                  </a:txBody>
                  <a:tcPr/>
                </a:tc>
                <a:tc>
                  <a:txBody>
                    <a:bodyPr/>
                    <a:lstStyle/>
                    <a:p>
                      <a:pPr>
                        <a:defRPr sz="800"/>
                      </a:pPr>
                      <a:r>
                        <a:t>0.0228</a:t>
                      </a:r>
                    </a:p>
                  </a:txBody>
                  <a:tcPr/>
                </a:tc>
                <a:tc>
                  <a:txBody>
                    <a:bodyPr/>
                    <a:lstStyle/>
                    <a:p>
                      <a:pPr>
                        <a:defRPr sz="800"/>
                      </a:pPr>
                      <a:r>
                        <a:t>0.0228</a:t>
                      </a:r>
                    </a:p>
                  </a:txBody>
                  <a:tcPr/>
                </a:tc>
                <a:tc>
                  <a:txBody>
                    <a:bodyPr/>
                    <a:lstStyle/>
                    <a:p>
                      <a:pPr>
                        <a:defRPr sz="800"/>
                      </a:pPr>
                      <a:r>
                        <a:t>0.696</a:t>
                      </a:r>
                    </a:p>
                  </a:txBody>
                  <a:tcPr/>
                </a:tc>
                <a:tc>
                  <a:txBody>
                    <a:bodyPr/>
                    <a:lstStyle/>
                    <a:p>
                      <a:pPr>
                        <a:defRPr sz="800"/>
                      </a:pPr>
                      <a:r>
                        <a:t>7.36</a:t>
                      </a:r>
                    </a:p>
                  </a:txBody>
                  <a:tcPr/>
                </a:tc>
                <a:tc>
                  <a:txBody>
                    <a:bodyPr/>
                    <a:lstStyle/>
                    <a:p>
                      <a:pPr>
                        <a:defRPr sz="800"/>
                      </a:pPr>
                      <a:r>
                        <a:t>0.92</a:t>
                      </a:r>
                    </a:p>
                  </a:txBody>
                  <a:tcPr/>
                </a:tc>
                <a:tc>
                  <a:txBody>
                    <a:bodyPr/>
                    <a:lstStyle/>
                    <a:p>
                      <a:pPr>
                        <a:defRPr sz="800"/>
                      </a:pPr>
                      <a:r>
                        <a:t>25</a:t>
                      </a:r>
                    </a:p>
                  </a:txBody>
                  <a:tcPr/>
                </a:tc>
              </a:tr>
              <a:tr h="274324">
                <a:tc>
                  <a:txBody>
                    <a:bodyPr/>
                    <a:lstStyle/>
                    <a:p>
                      <a:pPr>
                        <a:defRPr sz="800"/>
                      </a:pPr>
                      <a:r>
                        <a:t>e3-g8-rdma</a:t>
                      </a:r>
                    </a:p>
                  </a:txBody>
                  <a:tcPr/>
                </a:tc>
                <a:tc>
                  <a:txBody>
                    <a:bodyPr/>
                    <a:lstStyle/>
                    <a:p>
                      <a:pPr>
                        <a:defRPr sz="800"/>
                      </a:pPr>
                      <a:r>
                        <a:t>8</a:t>
                      </a:r>
                    </a:p>
                  </a:txBody>
                  <a:tcPr/>
                </a:tc>
                <a:tc>
                  <a:txBody>
                    <a:bodyPr/>
                    <a:lstStyle/>
                    <a:p>
                      <a:pPr>
                        <a:defRPr sz="800"/>
                      </a:pPr>
                      <a:r>
                        <a:t>2</a:t>
                      </a:r>
                    </a:p>
                  </a:txBody>
                  <a:tcPr/>
                </a:tc>
                <a:tc>
                  <a:txBody>
                    <a:bodyPr/>
                    <a:lstStyle/>
                    <a:p>
                      <a:pPr>
                        <a:defRPr sz="800"/>
                      </a:pPr>
                      <a:r>
                        <a:t>rdma</a:t>
                      </a:r>
                    </a:p>
                  </a:txBody>
                  <a:tcPr/>
                </a:tc>
                <a:tc>
                  <a:txBody>
                    <a:bodyPr/>
                    <a:lstStyle/>
                    <a:p>
                      <a:pPr>
                        <a:defRPr sz="800"/>
                      </a:pPr>
                      <a:r>
                        <a:t>rdma_gdr</a:t>
                      </a:r>
                    </a:p>
                  </a:txBody>
                  <a:tcPr/>
                </a:tc>
                <a:tc>
                  <a:txBody>
                    <a:bodyPr/>
                    <a:lstStyle/>
                    <a:p>
                      <a:pPr>
                        <a:defRPr sz="800"/>
                      </a:pPr>
                      <a:r>
                        <a:t>2.09e+03</a:t>
                      </a:r>
                    </a:p>
                  </a:txBody>
                  <a:tcPr/>
                </a:tc>
                <a:tc>
                  <a:txBody>
                    <a:bodyPr/>
                    <a:lstStyle/>
                    <a:p>
                      <a:pPr>
                        <a:defRPr sz="800"/>
                      </a:pPr>
                      <a:r>
                        <a:t>0.0306</a:t>
                      </a:r>
                    </a:p>
                  </a:txBody>
                  <a:tcPr/>
                </a:tc>
                <a:tc>
                  <a:txBody>
                    <a:bodyPr/>
                    <a:lstStyle/>
                    <a:p>
                      <a:pPr>
                        <a:defRPr sz="800"/>
                      </a:pPr>
                      <a:r>
                        <a:t>0.0311</a:t>
                      </a:r>
                    </a:p>
                  </a:txBody>
                  <a:tcPr/>
                </a:tc>
                <a:tc>
                  <a:txBody>
                    <a:bodyPr/>
                    <a:lstStyle/>
                    <a:p>
                      <a:pPr>
                        <a:defRPr sz="800"/>
                      </a:pPr>
                      <a:r>
                        <a:t>0.912</a:t>
                      </a:r>
                    </a:p>
                  </a:txBody>
                  <a:tcPr/>
                </a:tc>
                <a:tc>
                  <a:txBody>
                    <a:bodyPr/>
                    <a:lstStyle/>
                    <a:p>
                      <a:pPr>
                        <a:defRPr sz="800"/>
                      </a:pPr>
                      <a:r>
                        <a:t>5.49</a:t>
                      </a:r>
                    </a:p>
                  </a:txBody>
                  <a:tcPr/>
                </a:tc>
                <a:tc>
                  <a:txBody>
                    <a:bodyPr/>
                    <a:lstStyle/>
                    <a:p>
                      <a:pPr>
                        <a:defRPr sz="800"/>
                      </a:pPr>
                      <a:r>
                        <a:t>0.686</a:t>
                      </a:r>
                    </a:p>
                  </a:txBody>
                  <a:tcPr/>
                </a:tc>
                <a:tc>
                  <a:txBody>
                    <a:bodyPr/>
                    <a:lstStyle/>
                    <a:p>
                      <a:pPr>
                        <a:defRPr sz="800"/>
                      </a:pPr>
                      <a:r>
                        <a:t>25</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3 · Diagnosis: what limits the RDMA path, with the counters that prove it</a:t>
            </a:r>
          </a:p>
        </p:txBody>
      </p:sp>
      <p:pic>
        <p:nvPicPr>
          <p:cNvPr id="3" name="Picture 2" descr="rails_vs_busbw.png"/>
          <p:cNvPicPr>
            <a:picLocks noChangeAspect="1"/>
          </p:cNvPicPr>
          <p:nvPr/>
        </p:nvPicPr>
        <p:blipFill>
          <a:blip r:embed="rId3"/>
          <a:stretch>
            <a:fillRect/>
          </a:stretch>
        </p:blipFill>
        <p:spPr>
          <a:xfrm>
            <a:off x="457200" y="1188720"/>
            <a:ext cx="6949440" cy="4386482"/>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Bandwidth scales with the number of rails a pod claims: 96 GB/s with one rail, 207 with two, 364 with four (4 GiB messages)</a:t>
            </a:r>
          </a:p>
          <a:p>
            <a:pPr>
              <a:spcAft>
                <a:spcPts val="600"/>
              </a:spcAft>
              <a:defRPr sz="1200">
                <a:solidFill>
                  <a:srgbClr val="0B0B0B"/>
                </a:solidFill>
              </a:defRPr>
            </a:pPr>
            <a:r>
              <a:t>• The bytes counted on each rail match the theoretical minimum for a two-node all-reduce exactly — and one rail carried 411 Gb/s, which a 200 Gb/s link cannot do. So a rail is really a 4-plane 800 Gb/s port; sysfs and ethtool report a single plane</a:t>
            </a:r>
          </a:p>
          <a:p>
            <a:pPr>
              <a:spcAft>
                <a:spcPts val="600"/>
              </a:spcAft>
              <a:defRPr sz="1200">
                <a:solidFill>
                  <a:srgbClr val="0B0B0B"/>
                </a:solidFill>
              </a:defRPr>
            </a:pPr>
            <a:r>
              <a:t>• Each rail therefore ran at 51–60 % of its capacity. Congestion counters (CNP, ECN, out-of-sequence, ACK timeouts) stayed at zero; NIC and GPU both negotiate PCIe Gen6 x16 — so it is not the wire, not congestion, not PCIe</a:t>
            </a:r>
          </a:p>
          <a:p>
            <a:pPr>
              <a:spcAft>
                <a:spcPts val="600"/>
              </a:spcAft>
              <a:defRPr sz="1200">
                <a:solidFill>
                  <a:srgbClr val="0B0B0B"/>
                </a:solidFill>
              </a:defRPr>
            </a:pPr>
            <a:r>
              <a:t>• What remains is the per-rail injection path (one NCCL connection per GPU–NIC pair, GPUDirect across the Grace socket). That is a narrowed hypothesis, not a proof; the next experiment is more NCCL channels per NIC</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1737360"/>
                <a:gridCol w="1737360"/>
                <a:gridCol w="1737360"/>
                <a:gridCol w="1737360"/>
              </a:tblGrid>
              <a:tr h="274319">
                <a:tc>
                  <a:txBody>
                    <a:bodyPr/>
                    <a:lstStyle/>
                    <a:p>
                      <a:pPr>
                        <a:defRPr sz="800" b="1"/>
                      </a:pPr>
                      <a:r>
                        <a:t>size</a:t>
                      </a:r>
                    </a:p>
                  </a:txBody>
                  <a:tcPr/>
                </a:tc>
                <a:tc>
                  <a:txBody>
                    <a:bodyPr/>
                    <a:lstStyle/>
                    <a:p>
                      <a:pPr>
                        <a:defRPr sz="800" b="1"/>
                      </a:pPr>
                      <a:r>
                        <a:t>rails1</a:t>
                      </a:r>
                    </a:p>
                  </a:txBody>
                  <a:tcPr/>
                </a:tc>
                <a:tc>
                  <a:txBody>
                    <a:bodyPr/>
                    <a:lstStyle/>
                    <a:p>
                      <a:pPr>
                        <a:defRPr sz="800" b="1"/>
                      </a:pPr>
                      <a:r>
                        <a:t>rails2</a:t>
                      </a:r>
                    </a:p>
                  </a:txBody>
                  <a:tcPr/>
                </a:tc>
                <a:tc>
                  <a:txBody>
                    <a:bodyPr/>
                    <a:lstStyle/>
                    <a:p>
                      <a:pPr>
                        <a:defRPr sz="800" b="1"/>
                      </a:pPr>
                      <a:r>
                        <a:t>rails4</a:t>
                      </a:r>
                    </a:p>
                  </a:txBody>
                  <a:tcPr/>
                </a:tc>
              </a:tr>
              <a:tr h="274319">
                <a:tc>
                  <a:txBody>
                    <a:bodyPr/>
                    <a:lstStyle/>
                    <a:p>
                      <a:pPr>
                        <a:defRPr sz="800"/>
                      </a:pPr>
                      <a:r>
                        <a:t>1MiB</a:t>
                      </a:r>
                    </a:p>
                  </a:txBody>
                  <a:tcPr/>
                </a:tc>
                <a:tc>
                  <a:txBody>
                    <a:bodyPr/>
                    <a:lstStyle/>
                    <a:p>
                      <a:pPr>
                        <a:defRPr sz="800"/>
                      </a:pPr>
                      <a:r>
                        <a:t>nan</a:t>
                      </a:r>
                    </a:p>
                  </a:txBody>
                  <a:tcPr/>
                </a:tc>
                <a:tc>
                  <a:txBody>
                    <a:bodyPr/>
                    <a:lstStyle/>
                    <a:p>
                      <a:pPr>
                        <a:defRPr sz="800"/>
                      </a:pPr>
                      <a:r>
                        <a:t>nan</a:t>
                      </a:r>
                    </a:p>
                  </a:txBody>
                  <a:tcPr/>
                </a:tc>
                <a:tc>
                  <a:txBody>
                    <a:bodyPr/>
                    <a:lstStyle/>
                    <a:p>
                      <a:pPr>
                        <a:defRPr sz="800"/>
                      </a:pPr>
                      <a:r>
                        <a:t>20.3</a:t>
                      </a:r>
                    </a:p>
                  </a:txBody>
                  <a:tcPr/>
                </a:tc>
              </a:tr>
              <a:tr h="274319">
                <a:tc>
                  <a:txBody>
                    <a:bodyPr/>
                    <a:lstStyle/>
                    <a:p>
                      <a:pPr>
                        <a:defRPr sz="800"/>
                      </a:pPr>
                      <a:r>
                        <a:t>2MiB</a:t>
                      </a:r>
                    </a:p>
                  </a:txBody>
                  <a:tcPr/>
                </a:tc>
                <a:tc>
                  <a:txBody>
                    <a:bodyPr/>
                    <a:lstStyle/>
                    <a:p>
                      <a:pPr>
                        <a:defRPr sz="800"/>
                      </a:pPr>
                      <a:r>
                        <a:t>nan</a:t>
                      </a:r>
                    </a:p>
                  </a:txBody>
                  <a:tcPr/>
                </a:tc>
                <a:tc>
                  <a:txBody>
                    <a:bodyPr/>
                    <a:lstStyle/>
                    <a:p>
                      <a:pPr>
                        <a:defRPr sz="800"/>
                      </a:pPr>
                      <a:r>
                        <a:t>nan</a:t>
                      </a:r>
                    </a:p>
                  </a:txBody>
                  <a:tcPr/>
                </a:tc>
                <a:tc>
                  <a:txBody>
                    <a:bodyPr/>
                    <a:lstStyle/>
                    <a:p>
                      <a:pPr>
                        <a:defRPr sz="800"/>
                      </a:pPr>
                      <a:r>
                        <a:t>17.5</a:t>
                      </a:r>
                    </a:p>
                  </a:txBody>
                  <a:tcPr/>
                </a:tc>
              </a:tr>
              <a:tr h="274319">
                <a:tc>
                  <a:txBody>
                    <a:bodyPr/>
                    <a:lstStyle/>
                    <a:p>
                      <a:pPr>
                        <a:defRPr sz="800"/>
                      </a:pPr>
                      <a:r>
                        <a:t>4MiB</a:t>
                      </a:r>
                    </a:p>
                  </a:txBody>
                  <a:tcPr/>
                </a:tc>
                <a:tc>
                  <a:txBody>
                    <a:bodyPr/>
                    <a:lstStyle/>
                    <a:p>
                      <a:pPr>
                        <a:defRPr sz="800"/>
                      </a:pPr>
                      <a:r>
                        <a:t>nan</a:t>
                      </a:r>
                    </a:p>
                  </a:txBody>
                  <a:tcPr/>
                </a:tc>
                <a:tc>
                  <a:txBody>
                    <a:bodyPr/>
                    <a:lstStyle/>
                    <a:p>
                      <a:pPr>
                        <a:defRPr sz="800"/>
                      </a:pPr>
                      <a:r>
                        <a:t>nan</a:t>
                      </a:r>
                    </a:p>
                  </a:txBody>
                  <a:tcPr/>
                </a:tc>
                <a:tc>
                  <a:txBody>
                    <a:bodyPr/>
                    <a:lstStyle/>
                    <a:p>
                      <a:pPr>
                        <a:defRPr sz="800"/>
                      </a:pPr>
                      <a:r>
                        <a:t>51.3</a:t>
                      </a:r>
                    </a:p>
                  </a:txBody>
                  <a:tcPr/>
                </a:tc>
              </a:tr>
              <a:tr h="274319">
                <a:tc>
                  <a:txBody>
                    <a:bodyPr/>
                    <a:lstStyle/>
                    <a:p>
                      <a:pPr>
                        <a:defRPr sz="800"/>
                      </a:pPr>
                      <a:r>
                        <a:t>8MiB</a:t>
                      </a:r>
                    </a:p>
                  </a:txBody>
                  <a:tcPr/>
                </a:tc>
                <a:tc>
                  <a:txBody>
                    <a:bodyPr/>
                    <a:lstStyle/>
                    <a:p>
                      <a:pPr>
                        <a:defRPr sz="800"/>
                      </a:pPr>
                      <a:r>
                        <a:t>nan</a:t>
                      </a:r>
                    </a:p>
                  </a:txBody>
                  <a:tcPr/>
                </a:tc>
                <a:tc>
                  <a:txBody>
                    <a:bodyPr/>
                    <a:lstStyle/>
                    <a:p>
                      <a:pPr>
                        <a:defRPr sz="800"/>
                      </a:pPr>
                      <a:r>
                        <a:t>nan</a:t>
                      </a:r>
                    </a:p>
                  </a:txBody>
                  <a:tcPr/>
                </a:tc>
                <a:tc>
                  <a:txBody>
                    <a:bodyPr/>
                    <a:lstStyle/>
                    <a:p>
                      <a:pPr>
                        <a:defRPr sz="800"/>
                      </a:pPr>
                      <a:r>
                        <a:t>91.7</a:t>
                      </a:r>
                    </a:p>
                  </a:txBody>
                  <a:tcPr/>
                </a:tc>
              </a:tr>
              <a:tr h="274324">
                <a:tc>
                  <a:txBody>
                    <a:bodyPr/>
                    <a:lstStyle/>
                    <a:p>
                      <a:pPr>
                        <a:defRPr sz="800"/>
                      </a:pPr>
                      <a:r>
                        <a:t>16MiB</a:t>
                      </a:r>
                    </a:p>
                  </a:txBody>
                  <a:tcPr/>
                </a:tc>
                <a:tc>
                  <a:txBody>
                    <a:bodyPr/>
                    <a:lstStyle/>
                    <a:p>
                      <a:pPr>
                        <a:defRPr sz="800"/>
                      </a:pPr>
                      <a:r>
                        <a:t>78.7</a:t>
                      </a:r>
                    </a:p>
                  </a:txBody>
                  <a:tcPr/>
                </a:tc>
                <a:tc>
                  <a:txBody>
                    <a:bodyPr/>
                    <a:lstStyle/>
                    <a:p>
                      <a:pPr>
                        <a:defRPr sz="800"/>
                      </a:pPr>
                      <a:r>
                        <a:t>81.9</a:t>
                      </a:r>
                    </a:p>
                  </a:txBody>
                  <a:tcPr/>
                </a:tc>
                <a:tc>
                  <a:txBody>
                    <a:bodyPr/>
                    <a:lstStyle/>
                    <a:p>
                      <a:pPr>
                        <a:defRPr sz="800"/>
                      </a:pPr>
                      <a:r>
                        <a:t>117</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4 · The optimization: more queue pairs per connection (NCCL_IB_QPS_PER_CONNECTION)</a:t>
            </a:r>
          </a:p>
        </p:txBody>
      </p:sp>
      <p:pic>
        <p:nvPicPr>
          <p:cNvPr id="3" name="Picture 2" descr="before_after_box.png"/>
          <p:cNvPicPr>
            <a:picLocks noChangeAspect="1"/>
          </p:cNvPicPr>
          <p:nvPr/>
        </p:nvPicPr>
        <p:blipFill>
          <a:blip r:embed="rId3"/>
          <a:stretch>
            <a:fillRect/>
          </a:stretch>
        </p:blipFill>
        <p:spPr>
          <a:xfrm>
            <a:off x="457200" y="1188720"/>
            <a:ext cx="6949440" cy="3395111"/>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Baseline: RDMA path, four rails, GPUDirect on, one queue pair per NCCL connection (the default) — 98 / 413 / 408 GB/s at 16 MiB / 512 MiB / 4 GiB, five repeats each</a:t>
            </a:r>
          </a:p>
          <a:p>
            <a:pPr>
              <a:spcAft>
                <a:spcPts val="600"/>
              </a:spcAft>
              <a:defRPr sz="1200">
                <a:solidFill>
                  <a:srgbClr val="0B0B0B"/>
                </a:solidFill>
              </a:defRPr>
            </a:pPr>
            <a:r>
              <a:t>• Hypothesis, written before running: the rails have headroom (55 % used), one queue pair per peer serialises each flow, so 2 or 4 queue pairs should raise large-message bandwidth; expected cost is more out-of-order delivery</a:t>
            </a:r>
          </a:p>
          <a:p>
            <a:pPr>
              <a:spcAft>
                <a:spcPts val="600"/>
              </a:spcAft>
              <a:defRPr sz="1200">
                <a:solidFill>
                  <a:srgbClr val="0B0B0B"/>
                </a:solidFill>
              </a:defRPr>
            </a:pPr>
            <a:r>
              <a:t>• Change: only that variable (plus the companion setting that splits each message across the queue pairs), 1 → 2 → 4, five repeats per cell</a:t>
            </a:r>
          </a:p>
          <a:p>
            <a:pPr>
              <a:spcAft>
                <a:spcPts val="600"/>
              </a:spcAft>
              <a:defRPr sz="1200">
                <a:solidFill>
                  <a:srgbClr val="0B0B0B"/>
                </a:solidFill>
              </a:defRPr>
            </a:pPr>
            <a:r>
              <a:t>• Result: worse. 2 QPs: −4 % / −9 % / −8 %. 4 QPs: −19 % / −32 % / −29 %, statistically clear at every size. The counter window at 4 QPs shows each rail at 338 instead of 482 Gb/s, with reordering and congestion counters still at zero</a:t>
            </a:r>
          </a:p>
          <a:p>
            <a:pPr>
              <a:spcAft>
                <a:spcPts val="600"/>
              </a:spcAft>
              <a:defRPr sz="1200">
                <a:solidFill>
                  <a:srgbClr val="0B0B0B"/>
                </a:solidFill>
              </a:defRPr>
            </a:pPr>
            <a:r>
              <a:t>• Conclusion: the headroom is real but this knob cannot reach it — splitting every message across queue pairs shrinks each work request and multiplies completions. Keep the default; look at the injection side instead. A negative result, reported as one</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694944"/>
                <a:gridCol w="694944"/>
                <a:gridCol w="694944"/>
                <a:gridCol w="694944"/>
                <a:gridCol w="694944"/>
                <a:gridCol w="694944"/>
                <a:gridCol w="694944"/>
                <a:gridCol w="694944"/>
                <a:gridCol w="694944"/>
                <a:gridCol w="694944"/>
              </a:tblGrid>
              <a:tr h="274319">
                <a:tc>
                  <a:txBody>
                    <a:bodyPr/>
                    <a:lstStyle/>
                    <a:p>
                      <a:pPr>
                        <a:defRPr sz="800" b="1"/>
                      </a:pPr>
                      <a:r>
                        <a:t>size</a:t>
                      </a:r>
                    </a:p>
                  </a:txBody>
                  <a:tcPr/>
                </a:tc>
                <a:tc>
                  <a:txBody>
                    <a:bodyPr/>
                    <a:lstStyle/>
                    <a:p>
                      <a:pPr>
                        <a:defRPr sz="800" b="1"/>
                      </a:pPr>
                      <a:r>
                        <a:t>qps</a:t>
                      </a:r>
                    </a:p>
                  </a:txBody>
                  <a:tcPr/>
                </a:tc>
                <a:tc>
                  <a:txBody>
                    <a:bodyPr/>
                    <a:lstStyle/>
                    <a:p>
                      <a:pPr>
                        <a:defRPr sz="800" b="1"/>
                      </a:pPr>
                      <a:r>
                        <a:t>n</a:t>
                      </a:r>
                    </a:p>
                  </a:txBody>
                  <a:tcPr/>
                </a:tc>
                <a:tc>
                  <a:txBody>
                    <a:bodyPr/>
                    <a:lstStyle/>
                    <a:p>
                      <a:pPr>
                        <a:defRPr sz="800" b="1"/>
                      </a:pPr>
                      <a:r>
                        <a:t>busbw_mean</a:t>
                      </a:r>
                    </a:p>
                  </a:txBody>
                  <a:tcPr/>
                </a:tc>
                <a:tc>
                  <a:txBody>
                    <a:bodyPr/>
                    <a:lstStyle/>
                    <a:p>
                      <a:pPr>
                        <a:defRPr sz="800" b="1"/>
                      </a:pPr>
                      <a:r>
                        <a:t>busbw_std</a:t>
                      </a:r>
                    </a:p>
                  </a:txBody>
                  <a:tcPr/>
                </a:tc>
                <a:tc>
                  <a:txBody>
                    <a:bodyPr/>
                    <a:lstStyle/>
                    <a:p>
                      <a:pPr>
                        <a:defRPr sz="800" b="1"/>
                      </a:pPr>
                      <a:r>
                        <a:t>busbw_min</a:t>
                      </a:r>
                    </a:p>
                  </a:txBody>
                  <a:tcPr/>
                </a:tc>
                <a:tc>
                  <a:txBody>
                    <a:bodyPr/>
                    <a:lstStyle/>
                    <a:p>
                      <a:pPr>
                        <a:defRPr sz="800" b="1"/>
                      </a:pPr>
                      <a:r>
                        <a:t>busbw_max</a:t>
                      </a:r>
                    </a:p>
                  </a:txBody>
                  <a:tcPr/>
                </a:tc>
                <a:tc>
                  <a:txBody>
                    <a:bodyPr/>
                    <a:lstStyle/>
                    <a:p>
                      <a:pPr>
                        <a:defRPr sz="800" b="1"/>
                      </a:pPr>
                      <a:r>
                        <a:t>spread_pct_mean</a:t>
                      </a:r>
                    </a:p>
                  </a:txBody>
                  <a:tcPr/>
                </a:tc>
                <a:tc>
                  <a:txBody>
                    <a:bodyPr/>
                    <a:lstStyle/>
                    <a:p>
                      <a:pPr>
                        <a:defRPr sz="800" b="1"/>
                      </a:pPr>
                      <a:r>
                        <a:t>delta_pct</a:t>
                      </a:r>
                    </a:p>
                  </a:txBody>
                  <a:tcPr/>
                </a:tc>
                <a:tc>
                  <a:txBody>
                    <a:bodyPr/>
                    <a:lstStyle/>
                    <a:p>
                      <a:pPr>
                        <a:defRPr sz="800" b="1"/>
                      </a:pPr>
                      <a:r>
                        <a:t>p_value</a:t>
                      </a:r>
                    </a:p>
                  </a:txBody>
                  <a:tcPr/>
                </a:tc>
              </a:tr>
              <a:tr h="274319">
                <a:tc>
                  <a:txBody>
                    <a:bodyPr/>
                    <a:lstStyle/>
                    <a:p>
                      <a:pPr>
                        <a:defRPr sz="800"/>
                      </a:pPr>
                      <a:r>
                        <a:t>16MiB</a:t>
                      </a:r>
                    </a:p>
                  </a:txBody>
                  <a:tcPr/>
                </a:tc>
                <a:tc>
                  <a:txBody>
                    <a:bodyPr/>
                    <a:lstStyle/>
                    <a:p>
                      <a:pPr>
                        <a:defRPr sz="800"/>
                      </a:pPr>
                      <a:r>
                        <a:t>1</a:t>
                      </a:r>
                    </a:p>
                  </a:txBody>
                  <a:tcPr/>
                </a:tc>
                <a:tc>
                  <a:txBody>
                    <a:bodyPr/>
                    <a:lstStyle/>
                    <a:p>
                      <a:pPr>
                        <a:defRPr sz="800"/>
                      </a:pPr>
                      <a:r>
                        <a:t>5</a:t>
                      </a:r>
                    </a:p>
                  </a:txBody>
                  <a:tcPr/>
                </a:tc>
                <a:tc>
                  <a:txBody>
                    <a:bodyPr/>
                    <a:lstStyle/>
                    <a:p>
                      <a:pPr>
                        <a:defRPr sz="800"/>
                      </a:pPr>
                      <a:r>
                        <a:t>98.3</a:t>
                      </a:r>
                    </a:p>
                  </a:txBody>
                  <a:tcPr/>
                </a:tc>
                <a:tc>
                  <a:txBody>
                    <a:bodyPr/>
                    <a:lstStyle/>
                    <a:p>
                      <a:pPr>
                        <a:defRPr sz="800"/>
                      </a:pPr>
                      <a:r>
                        <a:t>1.75</a:t>
                      </a:r>
                    </a:p>
                  </a:txBody>
                  <a:tcPr/>
                </a:tc>
                <a:tc>
                  <a:txBody>
                    <a:bodyPr/>
                    <a:lstStyle/>
                    <a:p>
                      <a:pPr>
                        <a:defRPr sz="800"/>
                      </a:pPr>
                      <a:r>
                        <a:t>96.5</a:t>
                      </a:r>
                    </a:p>
                  </a:txBody>
                  <a:tcPr/>
                </a:tc>
                <a:tc>
                  <a:txBody>
                    <a:bodyPr/>
                    <a:lstStyle/>
                    <a:p>
                      <a:pPr>
                        <a:defRPr sz="800"/>
                      </a:pPr>
                      <a:r>
                        <a:t>101</a:t>
                      </a:r>
                    </a:p>
                  </a:txBody>
                  <a:tcPr/>
                </a:tc>
                <a:tc>
                  <a:txBody>
                    <a:bodyPr/>
                    <a:lstStyle/>
                    <a:p>
                      <a:pPr>
                        <a:defRPr sz="800"/>
                      </a:pPr>
                      <a:r>
                        <a:t>0.418</a:t>
                      </a:r>
                    </a:p>
                  </a:txBody>
                  <a:tcPr/>
                </a:tc>
                <a:tc>
                  <a:txBody>
                    <a:bodyPr/>
                    <a:lstStyle/>
                    <a:p>
                      <a:pPr>
                        <a:defRPr sz="800"/>
                      </a:pPr>
                      <a:r>
                        <a:t>0</a:t>
                      </a:r>
                    </a:p>
                  </a:txBody>
                  <a:tcPr/>
                </a:tc>
                <a:tc>
                  <a:txBody>
                    <a:bodyPr/>
                    <a:lstStyle/>
                    <a:p>
                      <a:pPr>
                        <a:defRPr sz="800"/>
                      </a:pPr>
                      <a:r>
                        <a:t>nan</a:t>
                      </a:r>
                    </a:p>
                  </a:txBody>
                  <a:tcPr/>
                </a:tc>
              </a:tr>
              <a:tr h="274319">
                <a:tc>
                  <a:txBody>
                    <a:bodyPr/>
                    <a:lstStyle/>
                    <a:p>
                      <a:pPr>
                        <a:defRPr sz="800"/>
                      </a:pPr>
                      <a:r>
                        <a:t>16MiB</a:t>
                      </a:r>
                    </a:p>
                  </a:txBody>
                  <a:tcPr/>
                </a:tc>
                <a:tc>
                  <a:txBody>
                    <a:bodyPr/>
                    <a:lstStyle/>
                    <a:p>
                      <a:pPr>
                        <a:defRPr sz="800"/>
                      </a:pPr>
                      <a:r>
                        <a:t>2</a:t>
                      </a:r>
                    </a:p>
                  </a:txBody>
                  <a:tcPr/>
                </a:tc>
                <a:tc>
                  <a:txBody>
                    <a:bodyPr/>
                    <a:lstStyle/>
                    <a:p>
                      <a:pPr>
                        <a:defRPr sz="800"/>
                      </a:pPr>
                      <a:r>
                        <a:t>5</a:t>
                      </a:r>
                    </a:p>
                  </a:txBody>
                  <a:tcPr/>
                </a:tc>
                <a:tc>
                  <a:txBody>
                    <a:bodyPr/>
                    <a:lstStyle/>
                    <a:p>
                      <a:pPr>
                        <a:defRPr sz="800"/>
                      </a:pPr>
                      <a:r>
                        <a:t>94</a:t>
                      </a:r>
                    </a:p>
                  </a:txBody>
                  <a:tcPr/>
                </a:tc>
                <a:tc>
                  <a:txBody>
                    <a:bodyPr/>
                    <a:lstStyle/>
                    <a:p>
                      <a:pPr>
                        <a:defRPr sz="800"/>
                      </a:pPr>
                      <a:r>
                        <a:t>1.9</a:t>
                      </a:r>
                    </a:p>
                  </a:txBody>
                  <a:tcPr/>
                </a:tc>
                <a:tc>
                  <a:txBody>
                    <a:bodyPr/>
                    <a:lstStyle/>
                    <a:p>
                      <a:pPr>
                        <a:defRPr sz="800"/>
                      </a:pPr>
                      <a:r>
                        <a:t>90.7</a:t>
                      </a:r>
                    </a:p>
                  </a:txBody>
                  <a:tcPr/>
                </a:tc>
                <a:tc>
                  <a:txBody>
                    <a:bodyPr/>
                    <a:lstStyle/>
                    <a:p>
                      <a:pPr>
                        <a:defRPr sz="800"/>
                      </a:pPr>
                      <a:r>
                        <a:t>95.3</a:t>
                      </a:r>
                    </a:p>
                  </a:txBody>
                  <a:tcPr/>
                </a:tc>
                <a:tc>
                  <a:txBody>
                    <a:bodyPr/>
                    <a:lstStyle/>
                    <a:p>
                      <a:pPr>
                        <a:defRPr sz="800"/>
                      </a:pPr>
                      <a:r>
                        <a:t>0.219</a:t>
                      </a:r>
                    </a:p>
                  </a:txBody>
                  <a:tcPr/>
                </a:tc>
                <a:tc>
                  <a:txBody>
                    <a:bodyPr/>
                    <a:lstStyle/>
                    <a:p>
                      <a:pPr>
                        <a:defRPr sz="800"/>
                      </a:pPr>
                      <a:r>
                        <a:t>-4.31</a:t>
                      </a:r>
                    </a:p>
                  </a:txBody>
                  <a:tcPr/>
                </a:tc>
                <a:tc>
                  <a:txBody>
                    <a:bodyPr/>
                    <a:lstStyle/>
                    <a:p>
                      <a:pPr>
                        <a:defRPr sz="800"/>
                      </a:pPr>
                      <a:r>
                        <a:t>0.0064</a:t>
                      </a:r>
                    </a:p>
                  </a:txBody>
                  <a:tcPr/>
                </a:tc>
              </a:tr>
              <a:tr h="274319">
                <a:tc>
                  <a:txBody>
                    <a:bodyPr/>
                    <a:lstStyle/>
                    <a:p>
                      <a:pPr>
                        <a:defRPr sz="800"/>
                      </a:pPr>
                      <a:r>
                        <a:t>16MiB</a:t>
                      </a:r>
                    </a:p>
                  </a:txBody>
                  <a:tcPr/>
                </a:tc>
                <a:tc>
                  <a:txBody>
                    <a:bodyPr/>
                    <a:lstStyle/>
                    <a:p>
                      <a:pPr>
                        <a:defRPr sz="800"/>
                      </a:pPr>
                      <a:r>
                        <a:t>4</a:t>
                      </a:r>
                    </a:p>
                  </a:txBody>
                  <a:tcPr/>
                </a:tc>
                <a:tc>
                  <a:txBody>
                    <a:bodyPr/>
                    <a:lstStyle/>
                    <a:p>
                      <a:pPr>
                        <a:defRPr sz="800"/>
                      </a:pPr>
                      <a:r>
                        <a:t>5</a:t>
                      </a:r>
                    </a:p>
                  </a:txBody>
                  <a:tcPr/>
                </a:tc>
                <a:tc>
                  <a:txBody>
                    <a:bodyPr/>
                    <a:lstStyle/>
                    <a:p>
                      <a:pPr>
                        <a:defRPr sz="800"/>
                      </a:pPr>
                      <a:r>
                        <a:t>80.1</a:t>
                      </a:r>
                    </a:p>
                  </a:txBody>
                  <a:tcPr/>
                </a:tc>
                <a:tc>
                  <a:txBody>
                    <a:bodyPr/>
                    <a:lstStyle/>
                    <a:p>
                      <a:pPr>
                        <a:defRPr sz="800"/>
                      </a:pPr>
                      <a:r>
                        <a:t>0.853</a:t>
                      </a:r>
                    </a:p>
                  </a:txBody>
                  <a:tcPr/>
                </a:tc>
                <a:tc>
                  <a:txBody>
                    <a:bodyPr/>
                    <a:lstStyle/>
                    <a:p>
                      <a:pPr>
                        <a:defRPr sz="800"/>
                      </a:pPr>
                      <a:r>
                        <a:t>79.1</a:t>
                      </a:r>
                    </a:p>
                  </a:txBody>
                  <a:tcPr/>
                </a:tc>
                <a:tc>
                  <a:txBody>
                    <a:bodyPr/>
                    <a:lstStyle/>
                    <a:p>
                      <a:pPr>
                        <a:defRPr sz="800"/>
                      </a:pPr>
                      <a:r>
                        <a:t>81.1</a:t>
                      </a:r>
                    </a:p>
                  </a:txBody>
                  <a:tcPr/>
                </a:tc>
                <a:tc>
                  <a:txBody>
                    <a:bodyPr/>
                    <a:lstStyle/>
                    <a:p>
                      <a:pPr>
                        <a:defRPr sz="800"/>
                      </a:pPr>
                      <a:r>
                        <a:t>0.356</a:t>
                      </a:r>
                    </a:p>
                  </a:txBody>
                  <a:tcPr/>
                </a:tc>
                <a:tc>
                  <a:txBody>
                    <a:bodyPr/>
                    <a:lstStyle/>
                    <a:p>
                      <a:pPr>
                        <a:defRPr sz="800"/>
                      </a:pPr>
                      <a:r>
                        <a:t>-18.5</a:t>
                      </a:r>
                    </a:p>
                  </a:txBody>
                  <a:tcPr/>
                </a:tc>
                <a:tc>
                  <a:txBody>
                    <a:bodyPr/>
                    <a:lstStyle/>
                    <a:p>
                      <a:pPr>
                        <a:defRPr sz="800"/>
                      </a:pPr>
                      <a:r>
                        <a:t>0</a:t>
                      </a:r>
                    </a:p>
                  </a:txBody>
                  <a:tcPr/>
                </a:tc>
              </a:tr>
              <a:tr h="274319">
                <a:tc>
                  <a:txBody>
                    <a:bodyPr/>
                    <a:lstStyle/>
                    <a:p>
                      <a:pPr>
                        <a:defRPr sz="800"/>
                      </a:pPr>
                      <a:r>
                        <a:t>512MiB</a:t>
                      </a:r>
                    </a:p>
                  </a:txBody>
                  <a:tcPr/>
                </a:tc>
                <a:tc>
                  <a:txBody>
                    <a:bodyPr/>
                    <a:lstStyle/>
                    <a:p>
                      <a:pPr>
                        <a:defRPr sz="800"/>
                      </a:pPr>
                      <a:r>
                        <a:t>1</a:t>
                      </a:r>
                    </a:p>
                  </a:txBody>
                  <a:tcPr/>
                </a:tc>
                <a:tc>
                  <a:txBody>
                    <a:bodyPr/>
                    <a:lstStyle/>
                    <a:p>
                      <a:pPr>
                        <a:defRPr sz="800"/>
                      </a:pPr>
                      <a:r>
                        <a:t>5</a:t>
                      </a:r>
                    </a:p>
                  </a:txBody>
                  <a:tcPr/>
                </a:tc>
                <a:tc>
                  <a:txBody>
                    <a:bodyPr/>
                    <a:lstStyle/>
                    <a:p>
                      <a:pPr>
                        <a:defRPr sz="800"/>
                      </a:pPr>
                      <a:r>
                        <a:t>413</a:t>
                      </a:r>
                    </a:p>
                  </a:txBody>
                  <a:tcPr/>
                </a:tc>
                <a:tc>
                  <a:txBody>
                    <a:bodyPr/>
                    <a:lstStyle/>
                    <a:p>
                      <a:pPr>
                        <a:defRPr sz="800"/>
                      </a:pPr>
                      <a:r>
                        <a:t>4.53</a:t>
                      </a:r>
                    </a:p>
                  </a:txBody>
                  <a:tcPr/>
                </a:tc>
                <a:tc>
                  <a:txBody>
                    <a:bodyPr/>
                    <a:lstStyle/>
                    <a:p>
                      <a:pPr>
                        <a:defRPr sz="800"/>
                      </a:pPr>
                      <a:r>
                        <a:t>407</a:t>
                      </a:r>
                    </a:p>
                  </a:txBody>
                  <a:tcPr/>
                </a:tc>
                <a:tc>
                  <a:txBody>
                    <a:bodyPr/>
                    <a:lstStyle/>
                    <a:p>
                      <a:pPr>
                        <a:defRPr sz="800"/>
                      </a:pPr>
                      <a:r>
                        <a:t>419</a:t>
                      </a:r>
                    </a:p>
                  </a:txBody>
                  <a:tcPr/>
                </a:tc>
                <a:tc>
                  <a:txBody>
                    <a:bodyPr/>
                    <a:lstStyle/>
                    <a:p>
                      <a:pPr>
                        <a:defRPr sz="800"/>
                      </a:pPr>
                      <a:r>
                        <a:t>0.287</a:t>
                      </a:r>
                    </a:p>
                  </a:txBody>
                  <a:tcPr/>
                </a:tc>
                <a:tc>
                  <a:txBody>
                    <a:bodyPr/>
                    <a:lstStyle/>
                    <a:p>
                      <a:pPr>
                        <a:defRPr sz="800"/>
                      </a:pPr>
                      <a:r>
                        <a:t>0</a:t>
                      </a:r>
                    </a:p>
                  </a:txBody>
                  <a:tcPr/>
                </a:tc>
                <a:tc>
                  <a:txBody>
                    <a:bodyPr/>
                    <a:lstStyle/>
                    <a:p>
                      <a:pPr>
                        <a:defRPr sz="800"/>
                      </a:pPr>
                      <a:r>
                        <a:t>nan</a:t>
                      </a:r>
                    </a:p>
                  </a:txBody>
                  <a:tcPr/>
                </a:tc>
              </a:tr>
              <a:tr h="274324">
                <a:tc>
                  <a:txBody>
                    <a:bodyPr/>
                    <a:lstStyle/>
                    <a:p>
                      <a:pPr>
                        <a:defRPr sz="800"/>
                      </a:pPr>
                      <a:r>
                        <a:t>512MiB</a:t>
                      </a:r>
                    </a:p>
                  </a:txBody>
                  <a:tcPr/>
                </a:tc>
                <a:tc>
                  <a:txBody>
                    <a:bodyPr/>
                    <a:lstStyle/>
                    <a:p>
                      <a:pPr>
                        <a:defRPr sz="800"/>
                      </a:pPr>
                      <a:r>
                        <a:t>2</a:t>
                      </a:r>
                    </a:p>
                  </a:txBody>
                  <a:tcPr/>
                </a:tc>
                <a:tc>
                  <a:txBody>
                    <a:bodyPr/>
                    <a:lstStyle/>
                    <a:p>
                      <a:pPr>
                        <a:defRPr sz="800"/>
                      </a:pPr>
                      <a:r>
                        <a:t>5</a:t>
                      </a:r>
                    </a:p>
                  </a:txBody>
                  <a:tcPr/>
                </a:tc>
                <a:tc>
                  <a:txBody>
                    <a:bodyPr/>
                    <a:lstStyle/>
                    <a:p>
                      <a:pPr>
                        <a:defRPr sz="800"/>
                      </a:pPr>
                      <a:r>
                        <a:t>376</a:t>
                      </a:r>
                    </a:p>
                  </a:txBody>
                  <a:tcPr/>
                </a:tc>
                <a:tc>
                  <a:txBody>
                    <a:bodyPr/>
                    <a:lstStyle/>
                    <a:p>
                      <a:pPr>
                        <a:defRPr sz="800"/>
                      </a:pPr>
                      <a:r>
                        <a:t>4.61</a:t>
                      </a:r>
                    </a:p>
                  </a:txBody>
                  <a:tcPr/>
                </a:tc>
                <a:tc>
                  <a:txBody>
                    <a:bodyPr/>
                    <a:lstStyle/>
                    <a:p>
                      <a:pPr>
                        <a:defRPr sz="800"/>
                      </a:pPr>
                      <a:r>
                        <a:t>371</a:t>
                      </a:r>
                    </a:p>
                  </a:txBody>
                  <a:tcPr/>
                </a:tc>
                <a:tc>
                  <a:txBody>
                    <a:bodyPr/>
                    <a:lstStyle/>
                    <a:p>
                      <a:pPr>
                        <a:defRPr sz="800"/>
                      </a:pPr>
                      <a:r>
                        <a:t>382</a:t>
                      </a:r>
                    </a:p>
                  </a:txBody>
                  <a:tcPr/>
                </a:tc>
                <a:tc>
                  <a:txBody>
                    <a:bodyPr/>
                    <a:lstStyle/>
                    <a:p>
                      <a:pPr>
                        <a:defRPr sz="800"/>
                      </a:pPr>
                      <a:r>
                        <a:t>0.307</a:t>
                      </a:r>
                    </a:p>
                  </a:txBody>
                  <a:tcPr/>
                </a:tc>
                <a:tc>
                  <a:txBody>
                    <a:bodyPr/>
                    <a:lstStyle/>
                    <a:p>
                      <a:pPr>
                        <a:defRPr sz="800"/>
                      </a:pPr>
                      <a:r>
                        <a:t>-8.94</a:t>
                      </a:r>
                    </a:p>
                  </a:txBody>
                  <a:tcPr/>
                </a:tc>
                <a:tc>
                  <a:txBody>
                    <a:bodyPr/>
                    <a:lstStyle/>
                    <a:p>
                      <a:pPr>
                        <a:defRPr sz="800"/>
                      </a:pPr>
                      <a:r>
                        <a:t>0</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5 · Other knobs we measured, and the one that actually helps the workload</a:t>
            </a:r>
          </a:p>
        </p:txBody>
      </p:sp>
      <p:sp>
        <p:nvSpPr>
          <p:cNvPr id="3" name="TextBox 2"/>
          <p:cNvSpPr txBox="1"/>
          <p:nvPr/>
        </p:nvSpPr>
        <p:spPr>
          <a:xfrm>
            <a:off x="548640" y="1188720"/>
            <a:ext cx="5486400" cy="5029200"/>
          </a:xfrm>
          <a:prstGeom prst="rect">
            <a:avLst/>
          </a:prstGeom>
          <a:noFill/>
        </p:spPr>
        <p:txBody>
          <a:bodyPr wrap="square">
            <a:spAutoFit/>
          </a:bodyPr>
          <a:lstStyle/>
          <a:p>
            <a:pPr>
              <a:spcAft>
                <a:spcPts val="600"/>
              </a:spcAft>
              <a:defRPr sz="1400">
                <a:solidFill>
                  <a:srgbClr val="0B0B0B"/>
                </a:solidFill>
              </a:defRPr>
            </a:pPr>
            <a:r>
              <a:t>• GPUDirect off: −38 % — same bytes on the wire, 1.6× the time; the cost of copying through host memory</a:t>
            </a:r>
          </a:p>
          <a:p>
            <a:pPr>
              <a:spcAft>
                <a:spcPts val="600"/>
              </a:spcAft>
              <a:defRPr sz="1400">
                <a:solidFill>
                  <a:srgbClr val="0B0B0B"/>
                </a:solidFill>
              </a:defRPr>
            </a:pPr>
            <a:r>
              <a:t>• Bigger NCCL buffers: no change. NVLS vs Ring algorithm on NVLink: 474 vs 388 GB/s — the NVSwitch reduction is what keeps the NVLink curve climbing. 'Tree' is not valid for this collective set (NCCL has no tree all-gather)</a:t>
            </a:r>
          </a:p>
          <a:p>
            <a:pPr>
              <a:spcAft>
                <a:spcPts val="600"/>
              </a:spcAft>
              <a:defRPr sz="1400">
                <a:solidFill>
                  <a:srgbClr val="0B0B0B"/>
                </a:solidFill>
              </a:defRPr>
            </a:pPr>
            <a:r>
              <a:t>• TCP with more socket threads: 7× faster than default TCP, still 14× slower than RDMA</a:t>
            </a:r>
          </a:p>
          <a:p>
            <a:pPr>
              <a:spcAft>
                <a:spcPts val="600"/>
              </a:spcAft>
              <a:defRPr sz="1400">
                <a:solidFill>
                  <a:srgbClr val="0B0B0B"/>
                </a:solidFill>
              </a:defRPr>
            </a:pPr>
            <a:r>
              <a:t>• DDP gradient buckets 25 → 200 MiB over the rails: 2090 → 2769 samples/s (+32 %); communication share of the step falls from 91 % to 32 %. On a slower interconnect, change how often you communicate before changing how</a:t>
            </a:r>
          </a:p>
        </p:txBody>
      </p:sp>
      <p:graphicFrame>
        <p:nvGraphicFramePr>
          <p:cNvPr id="4" name="Table 3"/>
          <p:cNvGraphicFramePr>
            <a:graphicFrameLocks noGrp="1"/>
          </p:cNvGraphicFramePr>
          <p:nvPr/>
        </p:nvGraphicFramePr>
        <p:xfrm>
          <a:off x="6217920" y="1188720"/>
          <a:ext cx="5486400" cy="3291839"/>
        </p:xfrm>
        <a:graphic>
          <a:graphicData uri="http://schemas.openxmlformats.org/drawingml/2006/table">
            <a:tbl>
              <a:tblPr firstRow="1" bandRow="1">
                <a:tableStyleId>{5C22544A-7EE6-4342-B048-85BDC9FD1C3A}</a:tableStyleId>
              </a:tblPr>
              <a:tblGrid>
                <a:gridCol w="1371600"/>
                <a:gridCol w="1371600"/>
                <a:gridCol w="1371600"/>
                <a:gridCol w="1371600"/>
              </a:tblGrid>
              <a:tr h="274319">
                <a:tc>
                  <a:txBody>
                    <a:bodyPr/>
                    <a:lstStyle/>
                    <a:p>
                      <a:pPr>
                        <a:defRPr sz="900" b="1"/>
                      </a:pPr>
                      <a:r>
                        <a:t>run_id</a:t>
                      </a:r>
                    </a:p>
                  </a:txBody>
                  <a:tcPr/>
                </a:tc>
                <a:tc>
                  <a:txBody>
                    <a:bodyPr/>
                    <a:lstStyle/>
                    <a:p>
                      <a:pPr>
                        <a:defRPr sz="900" b="1"/>
                      </a:pPr>
                      <a:r>
                        <a:t>16MiB</a:t>
                      </a:r>
                    </a:p>
                  </a:txBody>
                  <a:tcPr/>
                </a:tc>
                <a:tc>
                  <a:txBody>
                    <a:bodyPr/>
                    <a:lstStyle/>
                    <a:p>
                      <a:pPr>
                        <a:defRPr sz="900" b="1"/>
                      </a:pPr>
                      <a:r>
                        <a:t>512MiB</a:t>
                      </a:r>
                    </a:p>
                  </a:txBody>
                  <a:tcPr/>
                </a:tc>
                <a:tc>
                  <a:txBody>
                    <a:bodyPr/>
                    <a:lstStyle/>
                    <a:p>
                      <a:pPr>
                        <a:defRPr sz="900" b="1"/>
                      </a:pPr>
                      <a:r>
                        <a:t>4GiB</a:t>
                      </a:r>
                    </a:p>
                  </a:txBody>
                  <a:tcPr/>
                </a:tc>
              </a:tr>
              <a:tr h="274319">
                <a:tc>
                  <a:txBody>
                    <a:bodyPr/>
                    <a:lstStyle/>
                    <a:p>
                      <a:pPr>
                        <a:defRPr sz="900"/>
                      </a:pPr>
                      <a:r>
                        <a:t>e5-algo-nvls</a:t>
                      </a:r>
                    </a:p>
                  </a:txBody>
                  <a:tcPr/>
                </a:tc>
                <a:tc>
                  <a:txBody>
                    <a:bodyPr/>
                    <a:lstStyle/>
                    <a:p>
                      <a:pPr>
                        <a:defRPr sz="900"/>
                      </a:pPr>
                      <a:r>
                        <a:t>297</a:t>
                      </a:r>
                    </a:p>
                  </a:txBody>
                  <a:tcPr/>
                </a:tc>
                <a:tc>
                  <a:txBody>
                    <a:bodyPr/>
                    <a:lstStyle/>
                    <a:p>
                      <a:pPr>
                        <a:defRPr sz="900"/>
                      </a:pPr>
                      <a:r>
                        <a:t>695</a:t>
                      </a:r>
                    </a:p>
                  </a:txBody>
                  <a:tcPr/>
                </a:tc>
                <a:tc>
                  <a:txBody>
                    <a:bodyPr/>
                    <a:lstStyle/>
                    <a:p>
                      <a:pPr>
                        <a:defRPr sz="900"/>
                      </a:pPr>
                      <a:r>
                        <a:t>830</a:t>
                      </a:r>
                    </a:p>
                  </a:txBody>
                  <a:tcPr/>
                </a:tc>
              </a:tr>
              <a:tr h="274319">
                <a:tc>
                  <a:txBody>
                    <a:bodyPr/>
                    <a:lstStyle/>
                    <a:p>
                      <a:pPr>
                        <a:defRPr sz="900"/>
                      </a:pPr>
                      <a:r>
                        <a:t>e5-algo-ring</a:t>
                      </a:r>
                    </a:p>
                  </a:txBody>
                  <a:tcPr/>
                </a:tc>
                <a:tc>
                  <a:txBody>
                    <a:bodyPr/>
                    <a:lstStyle/>
                    <a:p>
                      <a:pPr>
                        <a:defRPr sz="900"/>
                      </a:pPr>
                      <a:r>
                        <a:t>327</a:t>
                      </a:r>
                    </a:p>
                  </a:txBody>
                  <a:tcPr/>
                </a:tc>
                <a:tc>
                  <a:txBody>
                    <a:bodyPr/>
                    <a:lstStyle/>
                    <a:p>
                      <a:pPr>
                        <a:defRPr sz="900"/>
                      </a:pPr>
                      <a:r>
                        <a:t>635</a:t>
                      </a:r>
                    </a:p>
                  </a:txBody>
                  <a:tcPr/>
                </a:tc>
                <a:tc>
                  <a:txBody>
                    <a:bodyPr/>
                    <a:lstStyle/>
                    <a:p>
                      <a:pPr>
                        <a:defRPr sz="900"/>
                      </a:pPr>
                      <a:r>
                        <a:t>679</a:t>
                      </a:r>
                    </a:p>
                  </a:txBody>
                  <a:tcPr/>
                </a:tc>
              </a:tr>
              <a:tr h="274319">
                <a:tc>
                  <a:txBody>
                    <a:bodyPr/>
                    <a:lstStyle/>
                    <a:p>
                      <a:pPr>
                        <a:defRPr sz="900"/>
                      </a:pPr>
                      <a:r>
                        <a:t>e5-buffsize16m</a:t>
                      </a:r>
                    </a:p>
                  </a:txBody>
                  <a:tcPr/>
                </a:tc>
                <a:tc>
                  <a:txBody>
                    <a:bodyPr/>
                    <a:lstStyle/>
                    <a:p>
                      <a:pPr>
                        <a:defRPr sz="900"/>
                      </a:pPr>
                      <a:r>
                        <a:t>101</a:t>
                      </a:r>
                    </a:p>
                  </a:txBody>
                  <a:tcPr/>
                </a:tc>
                <a:tc>
                  <a:txBody>
                    <a:bodyPr/>
                    <a:lstStyle/>
                    <a:p>
                      <a:pPr>
                        <a:defRPr sz="900"/>
                      </a:pPr>
                      <a:r>
                        <a:t>420</a:t>
                      </a:r>
                    </a:p>
                  </a:txBody>
                  <a:tcPr/>
                </a:tc>
                <a:tc>
                  <a:txBody>
                    <a:bodyPr/>
                    <a:lstStyle/>
                    <a:p>
                      <a:pPr>
                        <a:defRPr sz="900"/>
                      </a:pPr>
                      <a:r>
                        <a:t>393</a:t>
                      </a:r>
                    </a:p>
                  </a:txBody>
                  <a:tcPr/>
                </a:tc>
              </a:tr>
              <a:tr h="274319">
                <a:tc>
                  <a:txBody>
                    <a:bodyPr/>
                    <a:lstStyle/>
                    <a:p>
                      <a:pPr>
                        <a:defRPr sz="900"/>
                      </a:pPr>
                      <a:r>
                        <a:t>e5-buffsize4m</a:t>
                      </a:r>
                    </a:p>
                  </a:txBody>
                  <a:tcPr/>
                </a:tc>
                <a:tc>
                  <a:txBody>
                    <a:bodyPr/>
                    <a:lstStyle/>
                    <a:p>
                      <a:pPr>
                        <a:defRPr sz="900"/>
                      </a:pPr>
                      <a:r>
                        <a:t>102</a:t>
                      </a:r>
                    </a:p>
                  </a:txBody>
                  <a:tcPr/>
                </a:tc>
                <a:tc>
                  <a:txBody>
                    <a:bodyPr/>
                    <a:lstStyle/>
                    <a:p>
                      <a:pPr>
                        <a:defRPr sz="900"/>
                      </a:pPr>
                      <a:r>
                        <a:t>402</a:t>
                      </a:r>
                    </a:p>
                  </a:txBody>
                  <a:tcPr/>
                </a:tc>
                <a:tc>
                  <a:txBody>
                    <a:bodyPr/>
                    <a:lstStyle/>
                    <a:p>
                      <a:pPr>
                        <a:defRPr sz="900"/>
                      </a:pPr>
                      <a:r>
                        <a:t>419</a:t>
                      </a:r>
                    </a:p>
                  </a:txBody>
                  <a:tcPr/>
                </a:tc>
              </a:tr>
              <a:tr h="274319">
                <a:tc>
                  <a:txBody>
                    <a:bodyPr/>
                    <a:lstStyle/>
                    <a:p>
                      <a:pPr>
                        <a:defRPr sz="900"/>
                      </a:pPr>
                      <a:r>
                        <a:t>e5-counters-gdr-off</a:t>
                      </a:r>
                    </a:p>
                  </a:txBody>
                  <a:tcPr/>
                </a:tc>
                <a:tc>
                  <a:txBody>
                    <a:bodyPr/>
                    <a:lstStyle/>
                    <a:p>
                      <a:pPr>
                        <a:defRPr sz="900"/>
                      </a:pPr>
                      <a:r>
                        <a:t>nan</a:t>
                      </a:r>
                    </a:p>
                  </a:txBody>
                  <a:tcPr/>
                </a:tc>
                <a:tc>
                  <a:txBody>
                    <a:bodyPr/>
                    <a:lstStyle/>
                    <a:p>
                      <a:pPr>
                        <a:defRPr sz="900"/>
                      </a:pPr>
                      <a:r>
                        <a:t>nan</a:t>
                      </a:r>
                    </a:p>
                  </a:txBody>
                  <a:tcPr/>
                </a:tc>
                <a:tc>
                  <a:txBody>
                    <a:bodyPr/>
                    <a:lstStyle/>
                    <a:p>
                      <a:pPr>
                        <a:defRPr sz="900"/>
                      </a:pPr>
                      <a:r>
                        <a:t>253</a:t>
                      </a:r>
                    </a:p>
                  </a:txBody>
                  <a:tcPr/>
                </a:tc>
              </a:tr>
              <a:tr h="274319">
                <a:tc>
                  <a:txBody>
                    <a:bodyPr/>
                    <a:lstStyle/>
                    <a:p>
                      <a:pPr>
                        <a:defRPr sz="900"/>
                      </a:pPr>
                      <a:r>
                        <a:t>e5-counters-nvlink</a:t>
                      </a:r>
                    </a:p>
                  </a:txBody>
                  <a:tcPr/>
                </a:tc>
                <a:tc>
                  <a:txBody>
                    <a:bodyPr/>
                    <a:lstStyle/>
                    <a:p>
                      <a:pPr>
                        <a:defRPr sz="900"/>
                      </a:pPr>
                      <a:r>
                        <a:t>nan</a:t>
                      </a:r>
                    </a:p>
                  </a:txBody>
                  <a:tcPr/>
                </a:tc>
                <a:tc>
                  <a:txBody>
                    <a:bodyPr/>
                    <a:lstStyle/>
                    <a:p>
                      <a:pPr>
                        <a:defRPr sz="900"/>
                      </a:pPr>
                      <a:r>
                        <a:t>nan</a:t>
                      </a:r>
                    </a:p>
                  </a:txBody>
                  <a:tcPr/>
                </a:tc>
                <a:tc>
                  <a:txBody>
                    <a:bodyPr/>
                    <a:lstStyle/>
                    <a:p>
                      <a:pPr>
                        <a:defRPr sz="900"/>
                      </a:pPr>
                      <a:r>
                        <a:t>833</a:t>
                      </a:r>
                    </a:p>
                  </a:txBody>
                  <a:tcPr/>
                </a:tc>
              </a:tr>
              <a:tr h="274319">
                <a:tc>
                  <a:txBody>
                    <a:bodyPr/>
                    <a:lstStyle/>
                    <a:p>
                      <a:pPr>
                        <a:defRPr sz="900"/>
                      </a:pPr>
                      <a:r>
                        <a:t>e5-counters-rails1</a:t>
                      </a:r>
                    </a:p>
                  </a:txBody>
                  <a:tcPr/>
                </a:tc>
                <a:tc>
                  <a:txBody>
                    <a:bodyPr/>
                    <a:lstStyle/>
                    <a:p>
                      <a:pPr>
                        <a:defRPr sz="900"/>
                      </a:pPr>
                      <a:r>
                        <a:t>nan</a:t>
                      </a:r>
                    </a:p>
                  </a:txBody>
                  <a:tcPr/>
                </a:tc>
                <a:tc>
                  <a:txBody>
                    <a:bodyPr/>
                    <a:lstStyle/>
                    <a:p>
                      <a:pPr>
                        <a:defRPr sz="900"/>
                      </a:pPr>
                      <a:r>
                        <a:t>nan</a:t>
                      </a:r>
                    </a:p>
                  </a:txBody>
                  <a:tcPr/>
                </a:tc>
                <a:tc>
                  <a:txBody>
                    <a:bodyPr/>
                    <a:lstStyle/>
                    <a:p>
                      <a:pPr>
                        <a:defRPr sz="900"/>
                      </a:pPr>
                      <a:r>
                        <a:t>87.8</a:t>
                      </a:r>
                    </a:p>
                  </a:txBody>
                  <a:tcPr/>
                </a:tc>
              </a:tr>
              <a:tr h="274319">
                <a:tc>
                  <a:txBody>
                    <a:bodyPr/>
                    <a:lstStyle/>
                    <a:p>
                      <a:pPr>
                        <a:defRPr sz="900"/>
                      </a:pPr>
                      <a:r>
                        <a:t>e5-counters-rdma</a:t>
                      </a:r>
                    </a:p>
                  </a:txBody>
                  <a:tcPr/>
                </a:tc>
                <a:tc>
                  <a:txBody>
                    <a:bodyPr/>
                    <a:lstStyle/>
                    <a:p>
                      <a:pPr>
                        <a:defRPr sz="900"/>
                      </a:pPr>
                      <a:r>
                        <a:t>nan</a:t>
                      </a:r>
                    </a:p>
                  </a:txBody>
                  <a:tcPr/>
                </a:tc>
                <a:tc>
                  <a:txBody>
                    <a:bodyPr/>
                    <a:lstStyle/>
                    <a:p>
                      <a:pPr>
                        <a:defRPr sz="900"/>
                      </a:pPr>
                      <a:r>
                        <a:t>nan</a:t>
                      </a:r>
                    </a:p>
                  </a:txBody>
                  <a:tcPr/>
                </a:tc>
                <a:tc>
                  <a:txBody>
                    <a:bodyPr/>
                    <a:lstStyle/>
                    <a:p>
                      <a:pPr>
                        <a:defRPr sz="900"/>
                      </a:pPr>
                      <a:r>
                        <a:t>410</a:t>
                      </a:r>
                    </a:p>
                  </a:txBody>
                  <a:tcPr/>
                </a:tc>
              </a:tr>
              <a:tr h="274319">
                <a:tc>
                  <a:txBody>
                    <a:bodyPr/>
                    <a:lstStyle/>
                    <a:p>
                      <a:pPr>
                        <a:defRPr sz="900"/>
                      </a:pPr>
                      <a:r>
                        <a:t>e5-counters-rdma-qps4</a:t>
                      </a:r>
                    </a:p>
                  </a:txBody>
                  <a:tcPr/>
                </a:tc>
                <a:tc>
                  <a:txBody>
                    <a:bodyPr/>
                    <a:lstStyle/>
                    <a:p>
                      <a:pPr>
                        <a:defRPr sz="900"/>
                      </a:pPr>
                      <a:r>
                        <a:t>nan</a:t>
                      </a:r>
                    </a:p>
                  </a:txBody>
                  <a:tcPr/>
                </a:tc>
                <a:tc>
                  <a:txBody>
                    <a:bodyPr/>
                    <a:lstStyle/>
                    <a:p>
                      <a:pPr>
                        <a:defRPr sz="900"/>
                      </a:pPr>
                      <a:r>
                        <a:t>nan</a:t>
                      </a:r>
                    </a:p>
                  </a:txBody>
                  <a:tcPr/>
                </a:tc>
                <a:tc>
                  <a:txBody>
                    <a:bodyPr/>
                    <a:lstStyle/>
                    <a:p>
                      <a:pPr>
                        <a:defRPr sz="900"/>
                      </a:pPr>
                      <a:r>
                        <a:t>301</a:t>
                      </a:r>
                    </a:p>
                  </a:txBody>
                  <a:tcPr/>
                </a:tc>
              </a:tr>
              <a:tr h="274319">
                <a:tc>
                  <a:txBody>
                    <a:bodyPr/>
                    <a:lstStyle/>
                    <a:p>
                      <a:pPr>
                        <a:defRPr sz="900"/>
                      </a:pPr>
                      <a:r>
                        <a:t>e5-gdr-off</a:t>
                      </a:r>
                    </a:p>
                  </a:txBody>
                  <a:tcPr/>
                </a:tc>
                <a:tc>
                  <a:txBody>
                    <a:bodyPr/>
                    <a:lstStyle/>
                    <a:p>
                      <a:pPr>
                        <a:defRPr sz="900"/>
                      </a:pPr>
                      <a:r>
                        <a:t>107</a:t>
                      </a:r>
                    </a:p>
                  </a:txBody>
                  <a:tcPr/>
                </a:tc>
                <a:tc>
                  <a:txBody>
                    <a:bodyPr/>
                    <a:lstStyle/>
                    <a:p>
                      <a:pPr>
                        <a:defRPr sz="900"/>
                      </a:pPr>
                      <a:r>
                        <a:t>222</a:t>
                      </a:r>
                    </a:p>
                  </a:txBody>
                  <a:tcPr/>
                </a:tc>
                <a:tc>
                  <a:txBody>
                    <a:bodyPr/>
                    <a:lstStyle/>
                    <a:p>
                      <a:pPr>
                        <a:defRPr sz="900"/>
                      </a:pPr>
                      <a:r>
                        <a:t>247</a:t>
                      </a:r>
                    </a:p>
                  </a:txBody>
                  <a:tcPr/>
                </a:tc>
              </a:tr>
              <a:tr h="274330">
                <a:tc>
                  <a:txBody>
                    <a:bodyPr/>
                    <a:lstStyle/>
                    <a:p>
                      <a:pPr>
                        <a:defRPr sz="900"/>
                      </a:pPr>
                      <a:r>
                        <a:t>e5-sock-nthreads4</a:t>
                      </a:r>
                    </a:p>
                  </a:txBody>
                  <a:tcPr/>
                </a:tc>
                <a:tc>
                  <a:txBody>
                    <a:bodyPr/>
                    <a:lstStyle/>
                    <a:p>
                      <a:pPr>
                        <a:defRPr sz="900"/>
                      </a:pPr>
                      <a:r>
                        <a:t>10.3</a:t>
                      </a:r>
                    </a:p>
                  </a:txBody>
                  <a:tcPr/>
                </a:tc>
                <a:tc>
                  <a:txBody>
                    <a:bodyPr/>
                    <a:lstStyle/>
                    <a:p>
                      <a:pPr>
                        <a:defRPr sz="900"/>
                      </a:pPr>
                      <a:r>
                        <a:t>21.6</a:t>
                      </a:r>
                    </a:p>
                  </a:txBody>
                  <a:tcPr/>
                </a:tc>
                <a:tc>
                  <a:txBody>
                    <a:bodyPr/>
                    <a:lstStyle/>
                    <a:p>
                      <a:pPr>
                        <a:defRPr sz="900"/>
                      </a:pPr>
                      <a:r>
                        <a:t>29.4</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5 · Extending this to production multi-node GPU systems</a:t>
            </a:r>
          </a:p>
        </p:txBody>
      </p:sp>
      <p:sp>
        <p:nvSpPr>
          <p:cNvPr id="3" name="TextBox 2"/>
          <p:cNvSpPr txBox="1"/>
          <p:nvPr/>
        </p:nvSpPr>
        <p:spPr>
          <a:xfrm>
            <a:off x="548640" y="1188720"/>
            <a:ext cx="10972800" cy="5029200"/>
          </a:xfrm>
          <a:prstGeom prst="rect">
            <a:avLst/>
          </a:prstGeom>
          <a:noFill/>
        </p:spPr>
        <p:txBody>
          <a:bodyPr wrap="square">
            <a:spAutoFit/>
          </a:bodyPr>
          <a:lstStyle/>
          <a:p>
            <a:pPr>
              <a:spcAft>
                <a:spcPts val="600"/>
              </a:spcAft>
              <a:defRPr sz="1400">
                <a:solidFill>
                  <a:srgbClr val="0B0B0B"/>
                </a:solidFill>
              </a:defRPr>
            </a:pPr>
            <a:r>
              <a:t>• The manifests scale by node count: one pod per tray, one GPU claim and one rail claim per pod; the same image, the same result schema</a:t>
            </a:r>
          </a:p>
          <a:p>
            <a:pPr>
              <a:spcAft>
                <a:spcPts val="600"/>
              </a:spcAft>
              <a:defRPr sz="1400">
                <a:solidFill>
                  <a:srgbClr val="0B0B0B"/>
                </a:solidFill>
              </a:defRPr>
            </a:pPr>
            <a:r>
              <a:t>• Placement follows topology: inside an NVLink domain use NVLink; between domains budget for the rails and size gradient buckets or accumulation accordingly</a:t>
            </a:r>
          </a:p>
          <a:p>
            <a:pPr>
              <a:spcAft>
                <a:spcPts val="600"/>
              </a:spcAft>
              <a:defRPr sz="1400">
                <a:solidFill>
                  <a:srgbClr val="0B0B0B"/>
                </a:solidFill>
              </a:defRPr>
            </a:pPr>
            <a:r>
              <a:t>• The counters watched here become alerts: a fabric run whose NCCL log shows TCP fallback is a failure, not a slow run; congestion or sequence errors per rail are the network's signal; a rail below its share of line rate during a known-good collective is a rail fault</a:t>
            </a:r>
          </a:p>
          <a:p>
            <a:pPr>
              <a:spcAft>
                <a:spcPts val="600"/>
              </a:spcAft>
              <a:defRPr sz="1400">
                <a:solidFill>
                  <a:srgbClr val="0B0B0B"/>
                </a:solidFill>
              </a:defRPr>
            </a:pPr>
            <a:r>
              <a:t>• Floors are calibrated per rank count and message size, because bus bandwidth is not constant across either — the sweep here is the reference shape</a:t>
            </a:r>
          </a:p>
          <a:p>
            <a:pPr>
              <a:spcAft>
                <a:spcPts val="600"/>
              </a:spcAft>
              <a:defRPr sz="1400">
                <a:solidFill>
                  <a:srgbClr val="0B0B0B"/>
                </a:solidFill>
              </a:defRPr>
            </a:pPr>
            <a:r>
              <a:t>• The whole environment is reproducible from the repository: bootstrap, manifests, image build, results, analysis and this deck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